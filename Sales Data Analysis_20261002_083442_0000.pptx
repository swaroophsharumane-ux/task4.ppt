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Gordita" panose="020B0604020202020204" charset="0"/>
      <p:regular r:id="rId12"/>
    </p:embeddedFont>
    <p:embeddedFont>
      <p:font typeface="Gordita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21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ythonProject3\ApexPlanet_Task1_Output\ApexPlanet_Cleaned_Dataset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ythonProject3\ApexPlanet_Task1_Output\ApexPlanet_Cleaned_Dataset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ythonProject3\ApexPlanet_Task1_Output\ApexPlanet_Cleaned_Dataset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ythonProject3\ApexPlanet_Task1_Output\ApexPlanet_Cleaned_Dataset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[ApexPlanet_Cleaned_Dataset.csv]Sheet1!PivotTable1</c:name>
    <c:fmtId val="10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Sheet1!$A$4:$A$9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Sheet1!$B$4:$B$9</c:f>
              <c:numCache>
                <c:formatCode>General</c:formatCode>
                <c:ptCount val="5"/>
                <c:pt idx="0">
                  <c:v>50778581.699999981</c:v>
                </c:pt>
                <c:pt idx="1">
                  <c:v>25031689.399999987</c:v>
                </c:pt>
                <c:pt idx="2">
                  <c:v>22231711.280000016</c:v>
                </c:pt>
                <c:pt idx="3">
                  <c:v>21521561.479999993</c:v>
                </c:pt>
                <c:pt idx="4">
                  <c:v>19835895.789999999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A9-4C9B-8EE6-D2388C4211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55356687"/>
        <c:axId val="1555365327"/>
        <c:axId val="0"/>
      </c:bar3DChart>
      <c:catAx>
        <c:axId val="1555356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5365327"/>
        <c:crosses val="autoZero"/>
        <c:auto val="1"/>
        <c:lblAlgn val="ctr"/>
        <c:lblOffset val="100"/>
        <c:noMultiLvlLbl val="0"/>
      </c:catAx>
      <c:valAx>
        <c:axId val="15553653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5356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[ApexPlanet_Cleaned_Dataset.csv]Sheet2!PivotTable2</c:name>
    <c:fmtId val="7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Sheet2!$A$4:$A$6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Sheet2!$B$4:$B$6</c:f>
              <c:numCache>
                <c:formatCode>General</c:formatCode>
                <c:ptCount val="2"/>
                <c:pt idx="0">
                  <c:v>138590049.66000012</c:v>
                </c:pt>
                <c:pt idx="1">
                  <c:v>809389.99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AF-428D-AD81-6E582EA7B7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5402767"/>
        <c:axId val="1555400367"/>
      </c:areaChart>
      <c:catAx>
        <c:axId val="15554027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5400367"/>
        <c:crosses val="autoZero"/>
        <c:auto val="1"/>
        <c:lblAlgn val="ctr"/>
        <c:lblOffset val="100"/>
        <c:noMultiLvlLbl val="0"/>
      </c:catAx>
      <c:valAx>
        <c:axId val="1555400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540276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[ApexPlanet_Cleaned_Dataset.csv]Sheet3!PivotTable3</c:name>
    <c:fmtId val="1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Sheet3!$A$4:$A$10</c:f>
              <c:strCache>
                <c:ptCount val="6"/>
                <c:pt idx="0">
                  <c:v>Book</c:v>
                </c:pt>
                <c:pt idx="1">
                  <c:v>Chair</c:v>
                </c:pt>
                <c:pt idx="2">
                  <c:v>Laptop</c:v>
                </c:pt>
                <c:pt idx="3">
                  <c:v>Mobile</c:v>
                </c:pt>
                <c:pt idx="4">
                  <c:v>Rice</c:v>
                </c:pt>
                <c:pt idx="5">
                  <c:v>Shoes</c:v>
                </c:pt>
              </c:strCache>
            </c:strRef>
          </c:cat>
          <c:val>
            <c:numRef>
              <c:f>Sheet3!$B$4:$B$10</c:f>
              <c:numCache>
                <c:formatCode>General</c:formatCode>
                <c:ptCount val="6"/>
                <c:pt idx="0">
                  <c:v>25031689.399999987</c:v>
                </c:pt>
                <c:pt idx="1">
                  <c:v>21521561.479999993</c:v>
                </c:pt>
                <c:pt idx="2">
                  <c:v>25443008.509999994</c:v>
                </c:pt>
                <c:pt idx="3">
                  <c:v>25335573.190000005</c:v>
                </c:pt>
                <c:pt idx="4">
                  <c:v>22231711.280000016</c:v>
                </c:pt>
                <c:pt idx="5">
                  <c:v>19835895.789999999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50-467E-ACB0-A98FAA03C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55393647"/>
        <c:axId val="1555394127"/>
        <c:axId val="0"/>
      </c:bar3DChart>
      <c:catAx>
        <c:axId val="15553936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5394127"/>
        <c:crosses val="autoZero"/>
        <c:auto val="1"/>
        <c:lblAlgn val="ctr"/>
        <c:lblOffset val="100"/>
        <c:noMultiLvlLbl val="0"/>
      </c:catAx>
      <c:valAx>
        <c:axId val="15553941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5393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[ApexPlanet_Cleaned_Dataset.csv]Sheet4!PivotTable4</c:name>
    <c:fmtId val="11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Sheet4!$B$3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ACF-4EF4-B613-A1BC6A4D837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ACF-4EF4-B613-A1BC6A4D837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ACF-4EF4-B613-A1BC6A4D837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ACF-4EF4-B613-A1BC6A4D837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DACF-4EF4-B613-A1BC6A4D83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Sheet4!$A$4:$A$9</c:f>
              <c:strCache>
                <c:ptCount val="5"/>
                <c:pt idx="0">
                  <c:v>Education</c:v>
                </c:pt>
                <c:pt idx="1">
                  <c:v>Electronics</c:v>
                </c:pt>
                <c:pt idx="2">
                  <c:v>Fashion</c:v>
                </c:pt>
                <c:pt idx="3">
                  <c:v>Furniture</c:v>
                </c:pt>
                <c:pt idx="4">
                  <c:v>Grocery</c:v>
                </c:pt>
              </c:strCache>
            </c:strRef>
          </c:cat>
          <c:val>
            <c:numRef>
              <c:f>Sheet4!$B$4:$B$9</c:f>
              <c:numCache>
                <c:formatCode>0.00%</c:formatCode>
                <c:ptCount val="5"/>
                <c:pt idx="0">
                  <c:v>1.2619389446792404</c:v>
                </c:pt>
                <c:pt idx="1">
                  <c:v>2.559933881362662</c:v>
                </c:pt>
                <c:pt idx="2">
                  <c:v>1</c:v>
                </c:pt>
                <c:pt idx="3">
                  <c:v>1.0849805679484261</c:v>
                </c:pt>
                <c:pt idx="4">
                  <c:v>1.1207818147143036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ACF-4EF4-B613-A1BC6A4D837E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chart" Target="../charts/chart2.xml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chart" Target="../charts/chart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chart" Target="../charts/chart4.xml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image" Target="../media/image45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image" Target="../media/image74.png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18" Type="http://schemas.openxmlformats.org/officeDocument/2006/relationships/image" Target="../media/image121.png"/><Relationship Id="rId3" Type="http://schemas.openxmlformats.org/officeDocument/2006/relationships/image" Target="../media/image106.png"/><Relationship Id="rId21" Type="http://schemas.openxmlformats.org/officeDocument/2006/relationships/image" Target="../media/image124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image" Target="../media/image105.png"/><Relationship Id="rId16" Type="http://schemas.openxmlformats.org/officeDocument/2006/relationships/image" Target="../media/image119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23" Type="http://schemas.openxmlformats.org/officeDocument/2006/relationships/image" Target="../media/image126.png"/><Relationship Id="rId10" Type="http://schemas.openxmlformats.org/officeDocument/2006/relationships/image" Target="../media/image113.png"/><Relationship Id="rId19" Type="http://schemas.openxmlformats.org/officeDocument/2006/relationships/image" Target="../media/image122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Relationship Id="rId22" Type="http://schemas.openxmlformats.org/officeDocument/2006/relationships/image" Target="../media/image1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7175196" y="4711687"/>
            <a:ext cx="2625072" cy="3224936"/>
          </a:xfrm>
          <a:custGeom>
            <a:avLst/>
            <a:gdLst/>
            <a:ahLst/>
            <a:cxnLst/>
            <a:rect l="l" t="t" r="r" b="b"/>
            <a:pathLst>
              <a:path w="2625072" h="3224936">
                <a:moveTo>
                  <a:pt x="0" y="0"/>
                </a:moveTo>
                <a:lnTo>
                  <a:pt x="2625072" y="0"/>
                </a:lnTo>
                <a:lnTo>
                  <a:pt x="262507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6635716"/>
            <a:ext cx="10456536" cy="3651284"/>
          </a:xfrm>
          <a:custGeom>
            <a:avLst/>
            <a:gdLst/>
            <a:ahLst/>
            <a:cxnLst/>
            <a:rect l="l" t="t" r="r" b="b"/>
            <a:pathLst>
              <a:path w="10456536" h="3651284">
                <a:moveTo>
                  <a:pt x="0" y="0"/>
                </a:moveTo>
                <a:lnTo>
                  <a:pt x="10456536" y="0"/>
                </a:lnTo>
                <a:lnTo>
                  <a:pt x="1045653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642760" y="1210055"/>
            <a:ext cx="8054480" cy="2262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48"/>
              </a:lnSpc>
            </a:pPr>
            <a:r>
              <a:rPr lang="en-US" sz="8507" b="1" spc="83">
                <a:solidFill>
                  <a:srgbClr val="0D304F"/>
                </a:solidFill>
                <a:latin typeface="Gordita Bold"/>
                <a:ea typeface="Gordita Bold"/>
                <a:cs typeface="Gordita Bold"/>
                <a:sym typeface="Gordita Bold"/>
              </a:rPr>
              <a:t>Sales</a:t>
            </a:r>
          </a:p>
          <a:p>
            <a:pPr algn="l">
              <a:lnSpc>
                <a:spcPts val="8848"/>
              </a:lnSpc>
            </a:pPr>
            <a:r>
              <a:rPr lang="en-US" sz="8507" b="1" spc="83">
                <a:solidFill>
                  <a:srgbClr val="0D304F"/>
                </a:solidFill>
                <a:latin typeface="Gordita Bold"/>
                <a:ea typeface="Gordita Bold"/>
                <a:cs typeface="Gordita Bold"/>
                <a:sym typeface="Gordita Bold"/>
              </a:rPr>
              <a:t>Data Analysis: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1090" y="3796592"/>
            <a:ext cx="8221499" cy="541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972" b="1" spc="38">
                <a:solidFill>
                  <a:srgbClr val="2A818C"/>
                </a:solidFill>
                <a:latin typeface="Gordita Bold"/>
                <a:ea typeface="Gordita Bold"/>
                <a:cs typeface="Gordita Bold"/>
                <a:sym typeface="Gordita Bold"/>
              </a:rPr>
              <a:t>From Data to Business Insights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4711687"/>
            <a:ext cx="1323474" cy="218640"/>
          </a:xfrm>
          <a:custGeom>
            <a:avLst/>
            <a:gdLst/>
            <a:ahLst/>
            <a:cxnLst/>
            <a:rect l="l" t="t" r="r" b="b"/>
            <a:pathLst>
              <a:path w="1323474" h="218640">
                <a:moveTo>
                  <a:pt x="0" y="0"/>
                </a:moveTo>
                <a:lnTo>
                  <a:pt x="1323474" y="0"/>
                </a:lnTo>
                <a:lnTo>
                  <a:pt x="132347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654080" y="5418227"/>
            <a:ext cx="6922503" cy="365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772" spc="27">
                <a:solidFill>
                  <a:srgbClr val="0D304F"/>
                </a:solidFill>
                <a:latin typeface="Gordita"/>
                <a:ea typeface="Gordita"/>
                <a:cs typeface="Gordita"/>
                <a:sym typeface="Gordita"/>
              </a:rPr>
              <a:t>Final Data Analytics Internship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4950" y="7812640"/>
            <a:ext cx="3835517" cy="654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0"/>
              </a:lnSpc>
            </a:pPr>
            <a:r>
              <a:rPr lang="en-US" sz="4750" b="1" spc="46">
                <a:solidFill>
                  <a:srgbClr val="F3F9F9"/>
                </a:solidFill>
                <a:latin typeface="Gordita Bold"/>
                <a:ea typeface="Gordita Bold"/>
                <a:cs typeface="Gordita Bold"/>
                <a:sym typeface="Gordita Bold"/>
              </a:rPr>
              <a:t>Apex Planet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5491" y="8595221"/>
            <a:ext cx="2781417" cy="57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267" spc="41">
                <a:solidFill>
                  <a:srgbClr val="F3F9F9"/>
                </a:solidFill>
                <a:latin typeface="Gordita"/>
                <a:ea typeface="Gordita"/>
                <a:cs typeface="Gordita"/>
                <a:sym typeface="Gordita"/>
              </a:rPr>
              <a:t>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4372268" cy="10287000"/>
          </a:xfrm>
          <a:custGeom>
            <a:avLst/>
            <a:gdLst/>
            <a:ahLst/>
            <a:cxnLst/>
            <a:rect l="l" t="t" r="r" b="b"/>
            <a:pathLst>
              <a:path w="14372268" h="10287000">
                <a:moveTo>
                  <a:pt x="0" y="0"/>
                </a:moveTo>
                <a:lnTo>
                  <a:pt x="14372268" y="0"/>
                </a:lnTo>
                <a:lnTo>
                  <a:pt x="143722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8133399"/>
            <a:ext cx="14372268" cy="2153601"/>
          </a:xfrm>
          <a:custGeom>
            <a:avLst/>
            <a:gdLst/>
            <a:ahLst/>
            <a:cxnLst/>
            <a:rect l="l" t="t" r="r" b="b"/>
            <a:pathLst>
              <a:path w="14372268" h="2153601">
                <a:moveTo>
                  <a:pt x="0" y="0"/>
                </a:moveTo>
                <a:lnTo>
                  <a:pt x="14372268" y="0"/>
                </a:lnTo>
                <a:lnTo>
                  <a:pt x="1437226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0445598" y="0"/>
            <a:ext cx="7842402" cy="10287000"/>
          </a:xfrm>
          <a:custGeom>
            <a:avLst/>
            <a:gdLst/>
            <a:ahLst/>
            <a:cxnLst/>
            <a:rect l="l" t="t" r="r" b="b"/>
            <a:pathLst>
              <a:path w="7842402" h="10287000">
                <a:moveTo>
                  <a:pt x="0" y="0"/>
                </a:moveTo>
                <a:lnTo>
                  <a:pt x="7842402" y="0"/>
                </a:lnTo>
                <a:lnTo>
                  <a:pt x="7842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720576" y="572857"/>
            <a:ext cx="5630678" cy="2226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17"/>
              </a:lnSpc>
            </a:pPr>
            <a:r>
              <a:rPr lang="en-US" sz="8461" b="1">
                <a:solidFill>
                  <a:srgbClr val="122A44"/>
                </a:solidFill>
                <a:latin typeface="Gordita Bold"/>
                <a:ea typeface="Gordita Bold"/>
                <a:cs typeface="Gordita Bold"/>
                <a:sym typeface="Gordita Bold"/>
              </a:rPr>
              <a:t>Business Objective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1322" y="3168061"/>
            <a:ext cx="5913877" cy="101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2970">
                <a:solidFill>
                  <a:srgbClr val="29394E"/>
                </a:solidFill>
                <a:latin typeface="Gordita"/>
                <a:ea typeface="Gordita"/>
                <a:cs typeface="Gordita"/>
                <a:sym typeface="Gordita"/>
              </a:rPr>
              <a:t>Analyze sales data to generate</a:t>
            </a:r>
          </a:p>
          <a:p>
            <a:pPr algn="l">
              <a:lnSpc>
                <a:spcPts val="4158"/>
              </a:lnSpc>
            </a:pPr>
            <a:r>
              <a:rPr lang="en-US" sz="2970" b="1">
                <a:solidFill>
                  <a:srgbClr val="258989"/>
                </a:solidFill>
                <a:latin typeface="Gordita Bold"/>
                <a:ea typeface="Gordita Bold"/>
                <a:cs typeface="Gordita Bold"/>
                <a:sym typeface="Gordita Bold"/>
              </a:rPr>
              <a:t>actionable business insights.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4493047"/>
            <a:ext cx="2406316" cy="1508614"/>
          </a:xfrm>
          <a:custGeom>
            <a:avLst/>
            <a:gdLst/>
            <a:ahLst/>
            <a:cxnLst/>
            <a:rect l="l" t="t" r="r" b="b"/>
            <a:pathLst>
              <a:path w="2406316" h="1508614">
                <a:moveTo>
                  <a:pt x="0" y="0"/>
                </a:moveTo>
                <a:lnTo>
                  <a:pt x="2406316" y="0"/>
                </a:lnTo>
                <a:lnTo>
                  <a:pt x="24063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884039" y="5068201"/>
            <a:ext cx="1982391" cy="37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b="1">
                <a:solidFill>
                  <a:srgbClr val="E6F0F0"/>
                </a:solidFill>
                <a:latin typeface="Gordita Bold"/>
                <a:ea typeface="Gordita Bold"/>
                <a:cs typeface="Gordita Bold"/>
                <a:sym typeface="Gordita Bold"/>
              </a:rPr>
              <a:t>Raw Data</a:t>
            </a:r>
          </a:p>
        </p:txBody>
      </p:sp>
      <p:sp>
        <p:nvSpPr>
          <p:cNvPr id="10" name="Freeform 10"/>
          <p:cNvSpPr/>
          <p:nvPr/>
        </p:nvSpPr>
        <p:spPr>
          <a:xfrm>
            <a:off x="3040708" y="491939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3696976" y="4493047"/>
            <a:ext cx="2406316" cy="1508614"/>
          </a:xfrm>
          <a:custGeom>
            <a:avLst/>
            <a:gdLst/>
            <a:ahLst/>
            <a:cxnLst/>
            <a:rect l="l" t="t" r="r" b="b"/>
            <a:pathLst>
              <a:path w="2406316" h="1508614">
                <a:moveTo>
                  <a:pt x="0" y="0"/>
                </a:moveTo>
                <a:lnTo>
                  <a:pt x="2406316" y="0"/>
                </a:lnTo>
                <a:lnTo>
                  <a:pt x="24063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3911203" y="5068201"/>
            <a:ext cx="1982391" cy="37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b="1">
                <a:solidFill>
                  <a:srgbClr val="E6F0F0"/>
                </a:solidFill>
                <a:latin typeface="Gordita Bold"/>
                <a:ea typeface="Gordita Bold"/>
                <a:cs typeface="Gordita Bold"/>
                <a:sym typeface="Gordita Bold"/>
              </a:rPr>
              <a:t>Analysis</a:t>
            </a:r>
          </a:p>
        </p:txBody>
      </p:sp>
      <p:sp>
        <p:nvSpPr>
          <p:cNvPr id="13" name="Freeform 13"/>
          <p:cNvSpPr/>
          <p:nvPr/>
        </p:nvSpPr>
        <p:spPr>
          <a:xfrm>
            <a:off x="6092354" y="491939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6748622" y="4493047"/>
            <a:ext cx="2395378" cy="1508614"/>
          </a:xfrm>
          <a:custGeom>
            <a:avLst/>
            <a:gdLst/>
            <a:ahLst/>
            <a:cxnLst/>
            <a:rect l="l" t="t" r="r" b="b"/>
            <a:pathLst>
              <a:path w="2395378" h="1508614">
                <a:moveTo>
                  <a:pt x="0" y="0"/>
                </a:moveTo>
                <a:lnTo>
                  <a:pt x="2395378" y="0"/>
                </a:lnTo>
                <a:lnTo>
                  <a:pt x="239537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965156" y="5068201"/>
            <a:ext cx="1982391" cy="37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b="1">
                <a:solidFill>
                  <a:srgbClr val="E6F0F0"/>
                </a:solidFill>
                <a:latin typeface="Gordita Bold"/>
                <a:ea typeface="Gordita Bold"/>
                <a:cs typeface="Gordita Bold"/>
                <a:sym typeface="Gordita Bold"/>
              </a:rPr>
              <a:t>Insights</a:t>
            </a:r>
          </a:p>
        </p:txBody>
      </p:sp>
      <p:sp>
        <p:nvSpPr>
          <p:cNvPr id="16" name="Freeform 16"/>
          <p:cNvSpPr/>
          <p:nvPr/>
        </p:nvSpPr>
        <p:spPr>
          <a:xfrm>
            <a:off x="9144000" y="4919394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9789330" y="4493047"/>
            <a:ext cx="2406316" cy="1508614"/>
          </a:xfrm>
          <a:custGeom>
            <a:avLst/>
            <a:gdLst/>
            <a:ahLst/>
            <a:cxnLst/>
            <a:rect l="l" t="t" r="r" b="b"/>
            <a:pathLst>
              <a:path w="2406316" h="1508614">
                <a:moveTo>
                  <a:pt x="0" y="0"/>
                </a:moveTo>
                <a:lnTo>
                  <a:pt x="2406316" y="0"/>
                </a:lnTo>
                <a:lnTo>
                  <a:pt x="24063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0267962" y="4942688"/>
            <a:ext cx="1361992" cy="678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>
                <a:solidFill>
                  <a:srgbClr val="E6F0F0"/>
                </a:solidFill>
                <a:latin typeface="Gordita Bold"/>
                <a:ea typeface="Gordita Bold"/>
                <a:cs typeface="Gordita Bold"/>
                <a:sym typeface="Gordita Bold"/>
              </a:rPr>
              <a:t>Business Action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0461" y="7523118"/>
            <a:ext cx="8572500" cy="37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29394E"/>
                </a:solidFill>
                <a:latin typeface="Gordita"/>
                <a:ea typeface="Gordita"/>
                <a:cs typeface="Gordita"/>
                <a:sym typeface="Gordita"/>
              </a:rPr>
              <a:t>Discover important business patterns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0461" y="8095430"/>
            <a:ext cx="8572500" cy="37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29394E"/>
                </a:solidFill>
                <a:latin typeface="Gordita"/>
                <a:ea typeface="Gordita"/>
                <a:cs typeface="Gordita"/>
                <a:sym typeface="Gordita"/>
              </a:rPr>
              <a:t>Support data-driven decision making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0461" y="6920685"/>
            <a:ext cx="8572500" cy="37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29394E"/>
                </a:solidFill>
                <a:latin typeface="Gordita"/>
                <a:ea typeface="Gordita"/>
                <a:cs typeface="Gordita"/>
                <a:sym typeface="Gordita"/>
              </a:rPr>
              <a:t>Identify high- and low-performing categories/segments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0461" y="6333312"/>
            <a:ext cx="8572500" cy="37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29394E"/>
                </a:solidFill>
                <a:latin typeface="Gordita"/>
                <a:ea typeface="Gordita"/>
                <a:cs typeface="Gordita"/>
                <a:sym typeface="Gordita"/>
              </a:rPr>
              <a:t>Understand sales performance and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IN" dirty="0" err="1"/>
              <a:t>js</a:t>
            </a:r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0" y="8570678"/>
            <a:ext cx="18288000" cy="1716322"/>
          </a:xfrm>
          <a:custGeom>
            <a:avLst/>
            <a:gdLst/>
            <a:ahLst/>
            <a:cxnLst/>
            <a:rect l="l" t="t" r="r" b="b"/>
            <a:pathLst>
              <a:path w="18288000" h="1716322">
                <a:moveTo>
                  <a:pt x="0" y="0"/>
                </a:moveTo>
                <a:lnTo>
                  <a:pt x="18288000" y="0"/>
                </a:lnTo>
                <a:lnTo>
                  <a:pt x="1828800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703417" y="823876"/>
            <a:ext cx="10025470" cy="98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0"/>
              </a:lnSpc>
            </a:pPr>
            <a:r>
              <a:rPr lang="en-US" sz="7590" b="1" spc="-151">
                <a:solidFill>
                  <a:srgbClr val="193452"/>
                </a:solidFill>
                <a:latin typeface="Gordita Bold"/>
                <a:ea typeface="Gordita Bold"/>
                <a:cs typeface="Gordita Bold"/>
                <a:sym typeface="Gordita Bold"/>
              </a:rPr>
              <a:t>Data &amp; 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4523" y="2242616"/>
            <a:ext cx="9593775" cy="349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2601">
                <a:solidFill>
                  <a:srgbClr val="324359"/>
                </a:solidFill>
                <a:latin typeface="Gordita"/>
                <a:ea typeface="Gordita"/>
                <a:cs typeface="Gordita"/>
                <a:sym typeface="Gordita"/>
              </a:rPr>
              <a:t>Our end-to-end analytical workflow and dataset overview.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2995365"/>
            <a:ext cx="2187560" cy="1727254"/>
          </a:xfrm>
          <a:custGeom>
            <a:avLst/>
            <a:gdLst/>
            <a:ahLst/>
            <a:cxnLst/>
            <a:rect l="l" t="t" r="r" b="b"/>
            <a:pathLst>
              <a:path w="2187560" h="1727254">
                <a:moveTo>
                  <a:pt x="0" y="0"/>
                </a:moveTo>
                <a:lnTo>
                  <a:pt x="2187560" y="0"/>
                </a:lnTo>
                <a:lnTo>
                  <a:pt x="218756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803672" y="3552099"/>
            <a:ext cx="1902023" cy="64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Data</a:t>
            </a:r>
          </a:p>
          <a:p>
            <a:pPr algn="ctr">
              <a:lnSpc>
                <a:spcPts val="2626"/>
              </a:lnSpc>
            </a:pPr>
            <a:r>
              <a:rPr lang="en-US" sz="2188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Collection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2821952" y="364035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3040708" y="2995365"/>
            <a:ext cx="2187560" cy="1727254"/>
          </a:xfrm>
          <a:custGeom>
            <a:avLst/>
            <a:gdLst/>
            <a:ahLst/>
            <a:cxnLst/>
            <a:rect l="l" t="t" r="r" b="b"/>
            <a:pathLst>
              <a:path w="2187560" h="1727254">
                <a:moveTo>
                  <a:pt x="0" y="0"/>
                </a:moveTo>
                <a:lnTo>
                  <a:pt x="2187560" y="0"/>
                </a:lnTo>
                <a:lnTo>
                  <a:pt x="218756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3321844" y="3552099"/>
            <a:ext cx="1902023" cy="64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Data</a:t>
            </a:r>
          </a:p>
          <a:p>
            <a:pPr algn="ctr">
              <a:lnSpc>
                <a:spcPts val="2626"/>
              </a:lnSpc>
            </a:pPr>
            <a:r>
              <a:rPr lang="en-US" sz="2188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Cleaning</a:t>
            </a:r>
          </a:p>
        </p:txBody>
      </p:sp>
      <p:sp>
        <p:nvSpPr>
          <p:cNvPr id="11" name="Freeform 11"/>
          <p:cNvSpPr/>
          <p:nvPr/>
        </p:nvSpPr>
        <p:spPr>
          <a:xfrm>
            <a:off x="5217330" y="364035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5654842" y="2995365"/>
            <a:ext cx="2187560" cy="1727254"/>
          </a:xfrm>
          <a:custGeom>
            <a:avLst/>
            <a:gdLst/>
            <a:ahLst/>
            <a:cxnLst/>
            <a:rect l="l" t="t" r="r" b="b"/>
            <a:pathLst>
              <a:path w="2187560" h="1727254">
                <a:moveTo>
                  <a:pt x="0" y="0"/>
                </a:moveTo>
                <a:lnTo>
                  <a:pt x="2187560" y="0"/>
                </a:lnTo>
                <a:lnTo>
                  <a:pt x="218756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5679281" y="3391450"/>
            <a:ext cx="2089547" cy="963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Exploratory</a:t>
            </a:r>
          </a:p>
          <a:p>
            <a:pPr algn="ctr">
              <a:lnSpc>
                <a:spcPts val="2626"/>
              </a:lnSpc>
            </a:pPr>
            <a:r>
              <a:rPr lang="en-US" sz="2188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Data</a:t>
            </a:r>
          </a:p>
          <a:p>
            <a:pPr algn="ctr">
              <a:lnSpc>
                <a:spcPts val="2626"/>
              </a:lnSpc>
            </a:pPr>
            <a:r>
              <a:rPr lang="en-US" sz="2188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Analysis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12708" y="3640352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8050220" y="2995365"/>
            <a:ext cx="1968804" cy="1727254"/>
          </a:xfrm>
          <a:custGeom>
            <a:avLst/>
            <a:gdLst/>
            <a:ahLst/>
            <a:cxnLst/>
            <a:rect l="l" t="t" r="r" b="b"/>
            <a:pathLst>
              <a:path w="1968804" h="172725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9789330" y="3640352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0226842" y="2995365"/>
            <a:ext cx="2187560" cy="1727254"/>
          </a:xfrm>
          <a:custGeom>
            <a:avLst/>
            <a:gdLst/>
            <a:ahLst/>
            <a:cxnLst/>
            <a:rect l="l" t="t" r="r" b="b"/>
            <a:pathLst>
              <a:path w="2187560" h="1727254">
                <a:moveTo>
                  <a:pt x="0" y="0"/>
                </a:moveTo>
                <a:lnTo>
                  <a:pt x="2187560" y="0"/>
                </a:lnTo>
                <a:lnTo>
                  <a:pt x="218756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0313789" y="3552099"/>
            <a:ext cx="2089547" cy="64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Dashboard &amp; Visualization</a:t>
            </a:r>
          </a:p>
        </p:txBody>
      </p:sp>
      <p:sp>
        <p:nvSpPr>
          <p:cNvPr id="19" name="Freeform 19"/>
          <p:cNvSpPr/>
          <p:nvPr/>
        </p:nvSpPr>
        <p:spPr>
          <a:xfrm>
            <a:off x="12403464" y="364035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2622220" y="2995365"/>
            <a:ext cx="1968804" cy="1727254"/>
          </a:xfrm>
          <a:custGeom>
            <a:avLst/>
            <a:gdLst/>
            <a:ahLst/>
            <a:cxnLst/>
            <a:rect l="l" t="t" r="r" b="b"/>
            <a:pathLst>
              <a:path w="1968804" h="172725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12671227" y="3552099"/>
            <a:ext cx="1902023" cy="64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Statistical</a:t>
            </a:r>
          </a:p>
          <a:p>
            <a:pPr algn="ctr">
              <a:lnSpc>
                <a:spcPts val="2626"/>
              </a:lnSpc>
            </a:pPr>
            <a:r>
              <a:rPr lang="en-US" sz="2188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Testing</a:t>
            </a:r>
          </a:p>
        </p:txBody>
      </p:sp>
      <p:sp>
        <p:nvSpPr>
          <p:cNvPr id="22" name="Freeform 22"/>
          <p:cNvSpPr/>
          <p:nvPr/>
        </p:nvSpPr>
        <p:spPr>
          <a:xfrm>
            <a:off x="14361330" y="3640352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Freeform 23"/>
          <p:cNvSpPr/>
          <p:nvPr/>
        </p:nvSpPr>
        <p:spPr>
          <a:xfrm>
            <a:off x="14798842" y="2995365"/>
            <a:ext cx="2843828" cy="1727254"/>
          </a:xfrm>
          <a:custGeom>
            <a:avLst/>
            <a:gdLst/>
            <a:ahLst/>
            <a:cxnLst/>
            <a:rect l="l" t="t" r="r" b="b"/>
            <a:pathLst>
              <a:path w="2843828" h="1727254">
                <a:moveTo>
                  <a:pt x="0" y="0"/>
                </a:moveTo>
                <a:lnTo>
                  <a:pt x="2843828" y="0"/>
                </a:lnTo>
                <a:lnTo>
                  <a:pt x="284382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15001875" y="3587795"/>
            <a:ext cx="2411016" cy="571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7"/>
              </a:lnSpc>
            </a:pPr>
            <a:r>
              <a:rPr lang="en-US" sz="1922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Business</a:t>
            </a:r>
          </a:p>
          <a:p>
            <a:pPr algn="ctr">
              <a:lnSpc>
                <a:spcPts val="2307"/>
              </a:lnSpc>
            </a:pPr>
            <a:r>
              <a:rPr lang="en-US" sz="1922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Recommendations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5404" y="5324999"/>
            <a:ext cx="3147924" cy="360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7"/>
              </a:lnSpc>
            </a:pPr>
            <a:r>
              <a:rPr lang="en-US" sz="2707" b="1" spc="-54">
                <a:solidFill>
                  <a:srgbClr val="298988"/>
                </a:solidFill>
                <a:latin typeface="Gordita Bold"/>
                <a:ea typeface="Gordita Bold"/>
                <a:cs typeface="Gordita Bold"/>
                <a:sym typeface="Gordita Bold"/>
              </a:rPr>
              <a:t>Dataset Overview</a:t>
            </a:r>
          </a:p>
        </p:txBody>
      </p:sp>
      <p:sp>
        <p:nvSpPr>
          <p:cNvPr id="26" name="Freeform 26"/>
          <p:cNvSpPr/>
          <p:nvPr/>
        </p:nvSpPr>
        <p:spPr>
          <a:xfrm>
            <a:off x="330783" y="5583001"/>
            <a:ext cx="4145426" cy="2798589"/>
          </a:xfrm>
          <a:custGeom>
            <a:avLst/>
            <a:gdLst/>
            <a:ahLst/>
            <a:cxnLst/>
            <a:rect l="l" t="t" r="r" b="b"/>
            <a:pathLst>
              <a:path w="4145426" h="2798589">
                <a:moveTo>
                  <a:pt x="0" y="0"/>
                </a:moveTo>
                <a:lnTo>
                  <a:pt x="4145426" y="0"/>
                </a:lnTo>
                <a:lnTo>
                  <a:pt x="414542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949997" y="7167782"/>
            <a:ext cx="3487822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540" b="1" dirty="0">
                <a:solidFill>
                  <a:srgbClr val="298988"/>
                </a:solidFill>
                <a:latin typeface="Gordita Bold"/>
                <a:ea typeface="Gordita Bold"/>
                <a:cs typeface="Gordita Bold"/>
                <a:sym typeface="Gordita Bold"/>
              </a:rPr>
              <a:t>1000 rows</a:t>
            </a:r>
          </a:p>
        </p:txBody>
      </p:sp>
      <p:sp>
        <p:nvSpPr>
          <p:cNvPr id="28" name="Freeform 28"/>
          <p:cNvSpPr/>
          <p:nvPr/>
        </p:nvSpPr>
        <p:spPr>
          <a:xfrm>
            <a:off x="4779818" y="5783021"/>
            <a:ext cx="4364182" cy="2798589"/>
          </a:xfrm>
          <a:custGeom>
            <a:avLst/>
            <a:gdLst/>
            <a:ahLst/>
            <a:cxnLst/>
            <a:rect l="l" t="t" r="r" b="b"/>
            <a:pathLst>
              <a:path w="4364182" h="2798589">
                <a:moveTo>
                  <a:pt x="0" y="0"/>
                </a:moveTo>
                <a:lnTo>
                  <a:pt x="4364182" y="0"/>
                </a:lnTo>
                <a:lnTo>
                  <a:pt x="4364182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TextBox 29"/>
          <p:cNvSpPr txBox="1"/>
          <p:nvPr/>
        </p:nvSpPr>
        <p:spPr>
          <a:xfrm>
            <a:off x="5170289" y="6345880"/>
            <a:ext cx="3670102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b="1">
                <a:solidFill>
                  <a:srgbClr val="324359"/>
                </a:solidFill>
                <a:latin typeface="Gordita Bold"/>
                <a:ea typeface="Gordita Bold"/>
                <a:cs typeface="Gordita Bold"/>
                <a:sym typeface="Gordita Bold"/>
              </a:rPr>
              <a:t>Number of variables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119775" y="7167781"/>
            <a:ext cx="1697728" cy="749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2478" b="1" dirty="0">
                <a:solidFill>
                  <a:srgbClr val="298988"/>
                </a:solidFill>
                <a:latin typeface="Gordita Bold"/>
                <a:ea typeface="Gordita Bold"/>
                <a:cs typeface="Gordita Bold"/>
                <a:sym typeface="Gordita Bold"/>
              </a:rPr>
              <a:t>19 columns</a:t>
            </a:r>
          </a:p>
        </p:txBody>
      </p:sp>
      <p:sp>
        <p:nvSpPr>
          <p:cNvPr id="31" name="Freeform 31"/>
          <p:cNvSpPr/>
          <p:nvPr/>
        </p:nvSpPr>
        <p:spPr>
          <a:xfrm>
            <a:off x="11659261" y="5466600"/>
            <a:ext cx="4145426" cy="2798589"/>
          </a:xfrm>
          <a:custGeom>
            <a:avLst/>
            <a:gdLst/>
            <a:ahLst/>
            <a:cxnLst/>
            <a:rect l="l" t="t" r="r" b="b"/>
            <a:pathLst>
              <a:path w="4145426" h="2798589">
                <a:moveTo>
                  <a:pt x="0" y="0"/>
                </a:moveTo>
                <a:lnTo>
                  <a:pt x="4145426" y="0"/>
                </a:lnTo>
                <a:lnTo>
                  <a:pt x="414542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3" name="Freeform 33"/>
          <p:cNvSpPr/>
          <p:nvPr/>
        </p:nvSpPr>
        <p:spPr>
          <a:xfrm>
            <a:off x="13278488" y="5783021"/>
            <a:ext cx="4364182" cy="2798589"/>
          </a:xfrm>
          <a:custGeom>
            <a:avLst/>
            <a:gdLst/>
            <a:ahLst/>
            <a:cxnLst/>
            <a:rect l="l" t="t" r="r" b="b"/>
            <a:pathLst>
              <a:path w="4364182" h="2798589">
                <a:moveTo>
                  <a:pt x="0" y="0"/>
                </a:moveTo>
                <a:lnTo>
                  <a:pt x="4364182" y="0"/>
                </a:lnTo>
                <a:lnTo>
                  <a:pt x="4364182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TextBox 34"/>
          <p:cNvSpPr txBox="1"/>
          <p:nvPr/>
        </p:nvSpPr>
        <p:spPr>
          <a:xfrm>
            <a:off x="13823156" y="6345880"/>
            <a:ext cx="3295055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b="1">
                <a:solidFill>
                  <a:srgbClr val="324359"/>
                </a:solidFill>
                <a:latin typeface="Gordita Bold"/>
                <a:ea typeface="Gordita Bold"/>
                <a:cs typeface="Gordita Bold"/>
                <a:sym typeface="Gordita Bold"/>
              </a:rPr>
              <a:t>Main business area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818511" y="7321691"/>
            <a:ext cx="1238445" cy="46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0"/>
              </a:lnSpc>
            </a:pPr>
            <a:r>
              <a:rPr lang="en-US" sz="3590" b="1">
                <a:solidFill>
                  <a:srgbClr val="298988"/>
                </a:solidFill>
                <a:latin typeface="Gordita Bold"/>
                <a:ea typeface="Gordita Bold"/>
                <a:cs typeface="Gordita Bold"/>
                <a:sym typeface="Gordita Bold"/>
              </a:rPr>
              <a:t>Sales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090297" y="3552099"/>
            <a:ext cx="1902023" cy="64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SQL</a:t>
            </a:r>
          </a:p>
          <a:p>
            <a:pPr algn="ctr">
              <a:lnSpc>
                <a:spcPts val="2626"/>
              </a:lnSpc>
            </a:pPr>
            <a:r>
              <a:rPr lang="en-US" sz="2188" b="1">
                <a:solidFill>
                  <a:srgbClr val="F4F4F4"/>
                </a:solidFill>
                <a:latin typeface="Gordita Bold"/>
                <a:ea typeface="Gordita Bold"/>
                <a:cs typeface="Gordita Bold"/>
                <a:sym typeface="Gordita Bold"/>
              </a:rPr>
              <a:t>Analysis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36906" y="6345880"/>
            <a:ext cx="3402211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b="1" dirty="0">
                <a:solidFill>
                  <a:srgbClr val="324359"/>
                </a:solidFill>
                <a:latin typeface="Gordita Bold"/>
                <a:ea typeface="Gordita Bold"/>
                <a:cs typeface="Gordita Bold"/>
                <a:sym typeface="Gordita Bold"/>
              </a:rPr>
              <a:t>Data period</a:t>
            </a:r>
          </a:p>
          <a:p>
            <a:pPr algn="ctr">
              <a:lnSpc>
                <a:spcPts val="2387"/>
              </a:lnSpc>
            </a:pPr>
            <a:endParaRPr lang="en-US" sz="2387" b="1" dirty="0">
              <a:solidFill>
                <a:srgbClr val="324359"/>
              </a:solidFill>
              <a:latin typeface="Gordita Bold"/>
              <a:ea typeface="Gordita Bold"/>
              <a:cs typeface="Gordita Bold"/>
              <a:sym typeface="Gordita Bold"/>
            </a:endParaRPr>
          </a:p>
          <a:p>
            <a:pPr algn="ctr">
              <a:lnSpc>
                <a:spcPts val="2387"/>
              </a:lnSpc>
            </a:pPr>
            <a:endParaRPr lang="en-US" sz="2387" b="1" dirty="0">
              <a:solidFill>
                <a:srgbClr val="324359"/>
              </a:solidFill>
              <a:latin typeface="Gordita Bold"/>
              <a:ea typeface="Gordita Bold"/>
              <a:cs typeface="Gordita Bold"/>
              <a:sym typeface="Gordita Bold"/>
            </a:endParaRPr>
          </a:p>
          <a:p>
            <a:pPr algn="ctr">
              <a:lnSpc>
                <a:spcPts val="2387"/>
              </a:lnSpc>
            </a:pPr>
            <a:r>
              <a:rPr lang="en-US" sz="2387" b="1" dirty="0">
                <a:solidFill>
                  <a:srgbClr val="324359"/>
                </a:solidFill>
                <a:latin typeface="Gordita Bold"/>
                <a:ea typeface="Gordita Bold"/>
                <a:cs typeface="Gordita Bold"/>
                <a:sym typeface="Gordita Bold"/>
              </a:rPr>
              <a:t>2025 – 2026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03672" y="6345880"/>
            <a:ext cx="3857625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2387" b="1">
                <a:solidFill>
                  <a:srgbClr val="324359"/>
                </a:solidFill>
                <a:latin typeface="Gordita Bold"/>
                <a:ea typeface="Gordita Bold"/>
                <a:cs typeface="Gordita Bold"/>
                <a:sym typeface="Gordita Bold"/>
              </a:rPr>
              <a:t>Dataset 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8570678"/>
            <a:ext cx="18288000" cy="1716322"/>
          </a:xfrm>
          <a:custGeom>
            <a:avLst/>
            <a:gdLst/>
            <a:ahLst/>
            <a:cxnLst/>
            <a:rect l="l" t="t" r="r" b="b"/>
            <a:pathLst>
              <a:path w="18288000" h="1716322">
                <a:moveTo>
                  <a:pt x="0" y="0"/>
                </a:moveTo>
                <a:lnTo>
                  <a:pt x="18288000" y="0"/>
                </a:lnTo>
                <a:lnTo>
                  <a:pt x="1828800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743138" y="717752"/>
            <a:ext cx="6053391" cy="1837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99"/>
              </a:lnSpc>
            </a:pPr>
            <a:r>
              <a:rPr lang="en-US" sz="7321" b="1" spc="-146">
                <a:solidFill>
                  <a:srgbClr val="07254D"/>
                </a:solidFill>
                <a:latin typeface="Gordita Bold"/>
                <a:ea typeface="Gordita Bold"/>
                <a:cs typeface="Gordita Bold"/>
                <a:sym typeface="Gordita Bold"/>
              </a:rPr>
              <a:t>Key Business Findings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566" y="2902737"/>
            <a:ext cx="5610551" cy="794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601" spc="-52">
                <a:solidFill>
                  <a:srgbClr val="07254D"/>
                </a:solidFill>
                <a:latin typeface="Gordita"/>
                <a:ea typeface="Gordita"/>
                <a:cs typeface="Gordita"/>
                <a:sym typeface="Gordita"/>
              </a:rPr>
              <a:t>Our data analysis uncovered</a:t>
            </a:r>
          </a:p>
          <a:p>
            <a:pPr algn="l">
              <a:lnSpc>
                <a:spcPts val="3122"/>
              </a:lnSpc>
            </a:pPr>
            <a:r>
              <a:rPr lang="en-US" sz="2601" spc="-52">
                <a:solidFill>
                  <a:srgbClr val="07254D"/>
                </a:solidFill>
                <a:latin typeface="Gordita"/>
                <a:ea typeface="Gordita"/>
                <a:cs typeface="Gordita"/>
                <a:sym typeface="Gordita"/>
              </a:rPr>
              <a:t>four key findings that </a:t>
            </a:r>
            <a:r>
              <a:rPr lang="en-US" sz="2601" b="1" spc="-52">
                <a:solidFill>
                  <a:srgbClr val="158B8B"/>
                </a:solidFill>
                <a:latin typeface="Gordita Bold"/>
                <a:ea typeface="Gordita Bold"/>
                <a:cs typeface="Gordita Bold"/>
                <a:sym typeface="Gordita Bold"/>
              </a:rPr>
              <a:t>drive impact.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4066699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08869" y="4334117"/>
            <a:ext cx="665990" cy="642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7"/>
              </a:lnSpc>
            </a:pPr>
            <a:r>
              <a:rPr lang="en-US" sz="4289" b="1" spc="-85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69914" y="4287237"/>
            <a:ext cx="4232672" cy="70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07254D"/>
                </a:solidFill>
                <a:latin typeface="Gordita"/>
                <a:ea typeface="Gordita"/>
                <a:cs typeface="Gordita"/>
                <a:sym typeface="Gordita"/>
              </a:rPr>
              <a:t>Finding one highlights</a:t>
            </a:r>
          </a:p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07254D"/>
                </a:solidFill>
                <a:latin typeface="Gordita"/>
                <a:ea typeface="Gordita"/>
                <a:cs typeface="Gordita"/>
                <a:sym typeface="Gordita"/>
              </a:rPr>
              <a:t>a major performance driver.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5356674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008869" y="5613723"/>
            <a:ext cx="665990" cy="55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1"/>
              </a:lnSpc>
            </a:pPr>
            <a:r>
              <a:rPr lang="en-US" sz="3708" b="1" spc="-74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69914" y="5522226"/>
            <a:ext cx="4232672" cy="70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 dirty="0">
                <a:solidFill>
                  <a:srgbClr val="07254D"/>
                </a:solidFill>
                <a:latin typeface="Gordita"/>
                <a:ea typeface="Gordita"/>
                <a:cs typeface="Gordita"/>
                <a:sym typeface="Gordita"/>
              </a:rPr>
              <a:t>Finding two reveals</a:t>
            </a:r>
          </a:p>
          <a:p>
            <a:pPr algn="l">
              <a:lnSpc>
                <a:spcPts val="2930"/>
              </a:lnSpc>
            </a:pPr>
            <a:r>
              <a:rPr lang="en-US" sz="2254" spc="-45" dirty="0">
                <a:solidFill>
                  <a:srgbClr val="07254D"/>
                </a:solidFill>
                <a:latin typeface="Gordita"/>
                <a:ea typeface="Gordita"/>
                <a:cs typeface="Gordita"/>
                <a:sym typeface="Gordita"/>
              </a:rPr>
              <a:t>a significant opportunity.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5330" y="6635716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1008869" y="6864374"/>
            <a:ext cx="665990" cy="561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4"/>
              </a:lnSpc>
            </a:pPr>
            <a:r>
              <a:rPr lang="en-US" sz="3761" b="1" spc="-75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69914" y="6757215"/>
            <a:ext cx="4232672" cy="70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07254D"/>
                </a:solidFill>
                <a:latin typeface="Gordita"/>
                <a:ea typeface="Gordita"/>
                <a:cs typeface="Gordita"/>
                <a:sym typeface="Gordita"/>
              </a:rPr>
              <a:t>Finding three shows</a:t>
            </a:r>
          </a:p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07254D"/>
                </a:solidFill>
                <a:latin typeface="Gordita"/>
                <a:ea typeface="Gordita"/>
                <a:cs typeface="Gordita"/>
                <a:sym typeface="Gordita"/>
              </a:rPr>
              <a:t>a critical pattern.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5330" y="7707051"/>
            <a:ext cx="1323474" cy="1300906"/>
          </a:xfrm>
          <a:custGeom>
            <a:avLst/>
            <a:gdLst/>
            <a:ahLst/>
            <a:cxnLst/>
            <a:rect l="l" t="t" r="r" b="b"/>
            <a:pathLst>
              <a:path w="1323474" h="1300906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1008869" y="8122746"/>
            <a:ext cx="665990" cy="535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1"/>
              </a:lnSpc>
            </a:pPr>
            <a:r>
              <a:rPr lang="en-US" sz="3550" b="1" spc="-7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69914" y="8007265"/>
            <a:ext cx="4232672" cy="70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07254D"/>
                </a:solidFill>
                <a:latin typeface="Gordita"/>
                <a:ea typeface="Gordita"/>
                <a:cs typeface="Gordita"/>
                <a:sym typeface="Gordita"/>
              </a:rPr>
              <a:t>Finding four identifies</a:t>
            </a:r>
          </a:p>
          <a:p>
            <a:pPr algn="l">
              <a:lnSpc>
                <a:spcPts val="2930"/>
              </a:lnSpc>
            </a:pPr>
            <a:r>
              <a:rPr lang="en-US" sz="2254" spc="-45">
                <a:solidFill>
                  <a:srgbClr val="07254D"/>
                </a:solidFill>
                <a:latin typeface="Gordita"/>
                <a:ea typeface="Gordita"/>
                <a:cs typeface="Gordita"/>
                <a:sym typeface="Gordita"/>
              </a:rPr>
              <a:t>a key area for focus.</a:t>
            </a:r>
          </a:p>
        </p:txBody>
      </p:sp>
      <p:sp>
        <p:nvSpPr>
          <p:cNvPr id="18" name="Freeform 18"/>
          <p:cNvSpPr/>
          <p:nvPr/>
        </p:nvSpPr>
        <p:spPr>
          <a:xfrm>
            <a:off x="7831464" y="1071335"/>
            <a:ext cx="5020450" cy="3858991"/>
          </a:xfrm>
          <a:custGeom>
            <a:avLst/>
            <a:gdLst/>
            <a:ahLst/>
            <a:cxnLst/>
            <a:rect l="l" t="t" r="r" b="b"/>
            <a:pathLst>
              <a:path w="5020450" h="3858991">
                <a:moveTo>
                  <a:pt x="0" y="0"/>
                </a:moveTo>
                <a:lnTo>
                  <a:pt x="5020450" y="0"/>
                </a:lnTo>
                <a:lnTo>
                  <a:pt x="5020450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8397587" y="1617631"/>
            <a:ext cx="1417868" cy="276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07254D"/>
                </a:solidFill>
                <a:latin typeface="Gordita Bold"/>
                <a:ea typeface="Gordita Bold"/>
                <a:cs typeface="Gordita Bold"/>
                <a:sym typeface="Gordita Bold"/>
              </a:rPr>
              <a:t>Sales trend</a:t>
            </a:r>
          </a:p>
        </p:txBody>
      </p:sp>
      <p:sp>
        <p:nvSpPr>
          <p:cNvPr id="21" name="Freeform 21"/>
          <p:cNvSpPr/>
          <p:nvPr/>
        </p:nvSpPr>
        <p:spPr>
          <a:xfrm>
            <a:off x="12622220" y="1071335"/>
            <a:ext cx="5020450" cy="3858991"/>
          </a:xfrm>
          <a:custGeom>
            <a:avLst/>
            <a:gdLst/>
            <a:ahLst/>
            <a:cxnLst/>
            <a:rect l="l" t="t" r="r" b="b"/>
            <a:pathLst>
              <a:path w="5020450" h="3858991">
                <a:moveTo>
                  <a:pt x="0" y="0"/>
                </a:moveTo>
                <a:lnTo>
                  <a:pt x="5020450" y="0"/>
                </a:lnTo>
                <a:lnTo>
                  <a:pt x="5020450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13126090" y="1617631"/>
            <a:ext cx="2733971" cy="276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07254D"/>
                </a:solidFill>
                <a:latin typeface="Gordita Bold"/>
                <a:ea typeface="Gordita Bold"/>
                <a:cs typeface="Gordita Bold"/>
                <a:sym typeface="Gordita Bold"/>
              </a:rPr>
              <a:t>Category comparison</a:t>
            </a:r>
          </a:p>
        </p:txBody>
      </p:sp>
      <p:sp>
        <p:nvSpPr>
          <p:cNvPr id="24" name="Freeform 24"/>
          <p:cNvSpPr/>
          <p:nvPr/>
        </p:nvSpPr>
        <p:spPr>
          <a:xfrm>
            <a:off x="7729627" y="5028714"/>
            <a:ext cx="5020450" cy="3662216"/>
          </a:xfrm>
          <a:custGeom>
            <a:avLst/>
            <a:gdLst/>
            <a:ahLst/>
            <a:cxnLst/>
            <a:rect l="l" t="t" r="r" b="b"/>
            <a:pathLst>
              <a:path w="5020450" h="3662216">
                <a:moveTo>
                  <a:pt x="0" y="0"/>
                </a:moveTo>
                <a:lnTo>
                  <a:pt x="5020450" y="0"/>
                </a:lnTo>
                <a:lnTo>
                  <a:pt x="5020450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8385468" y="5327533"/>
            <a:ext cx="2629736" cy="54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b="1" spc="-37">
                <a:solidFill>
                  <a:srgbClr val="07254D"/>
                </a:solidFill>
                <a:latin typeface="Gordita Bold"/>
                <a:ea typeface="Gordita Bold"/>
                <a:cs typeface="Gordita Bold"/>
                <a:sym typeface="Gordita Bold"/>
              </a:rPr>
              <a:t>Department/segment</a:t>
            </a:r>
          </a:p>
          <a:p>
            <a:pPr algn="l">
              <a:lnSpc>
                <a:spcPts val="2236"/>
              </a:lnSpc>
            </a:pPr>
            <a:r>
              <a:rPr lang="en-US" sz="1863" b="1" spc="-37">
                <a:solidFill>
                  <a:srgbClr val="07254D"/>
                </a:solidFill>
                <a:latin typeface="Gordita Bold"/>
                <a:ea typeface="Gordita Bold"/>
                <a:cs typeface="Gordita Bold"/>
                <a:sym typeface="Gordita Bold"/>
              </a:rPr>
              <a:t>comparison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622220" y="4919394"/>
            <a:ext cx="5020450" cy="3662216"/>
          </a:xfrm>
          <a:custGeom>
            <a:avLst/>
            <a:gdLst/>
            <a:ahLst/>
            <a:cxnLst/>
            <a:rect l="l" t="t" r="r" b="b"/>
            <a:pathLst>
              <a:path w="5020450" h="3662216">
                <a:moveTo>
                  <a:pt x="0" y="0"/>
                </a:moveTo>
                <a:lnTo>
                  <a:pt x="5020450" y="0"/>
                </a:lnTo>
                <a:lnTo>
                  <a:pt x="5020450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13126944" y="5337658"/>
            <a:ext cx="2648601" cy="276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07254D"/>
                </a:solidFill>
                <a:latin typeface="Gordita Bold"/>
                <a:ea typeface="Gordita Bold"/>
                <a:cs typeface="Gordita Bold"/>
                <a:sym typeface="Gordita Bold"/>
              </a:rPr>
              <a:t>Revenue distribution</a:t>
            </a:r>
          </a:p>
        </p:txBody>
      </p:sp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0CB83041-DA03-06F0-3CBB-D3FD1DA6A1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8347156"/>
              </p:ext>
            </p:extLst>
          </p:nvPr>
        </p:nvGraphicFramePr>
        <p:xfrm>
          <a:off x="13200082" y="1990161"/>
          <a:ext cx="4079048" cy="2521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C1DC2773-7629-69D7-73D0-DFA21CFBD4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3517036"/>
              </p:ext>
            </p:extLst>
          </p:nvPr>
        </p:nvGraphicFramePr>
        <p:xfrm>
          <a:off x="8269876" y="1596070"/>
          <a:ext cx="4133588" cy="2691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1A742FCB-E97F-F739-462C-194959CCB6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0439236"/>
              </p:ext>
            </p:extLst>
          </p:nvPr>
        </p:nvGraphicFramePr>
        <p:xfrm>
          <a:off x="8188438" y="5970124"/>
          <a:ext cx="4215026" cy="2539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FFFEBB64-C3B9-F969-5F1D-0F15E6307E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8291459"/>
              </p:ext>
            </p:extLst>
          </p:nvPr>
        </p:nvGraphicFramePr>
        <p:xfrm>
          <a:off x="12750077" y="5741713"/>
          <a:ext cx="4529053" cy="2555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3457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0" y="9204733"/>
            <a:ext cx="18288000" cy="1082267"/>
          </a:xfrm>
          <a:custGeom>
            <a:avLst/>
            <a:gdLst/>
            <a:ahLst/>
            <a:cxnLst/>
            <a:rect l="l" t="t" r="r" b="b"/>
            <a:pathLst>
              <a:path w="18288000" h="1082267">
                <a:moveTo>
                  <a:pt x="0" y="0"/>
                </a:moveTo>
                <a:lnTo>
                  <a:pt x="18288000" y="0"/>
                </a:lnTo>
                <a:lnTo>
                  <a:pt x="1828800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04490" y="914294"/>
            <a:ext cx="5092382" cy="1210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2"/>
              </a:lnSpc>
            </a:pPr>
            <a:r>
              <a:rPr lang="en-US" sz="4662" b="1">
                <a:solidFill>
                  <a:srgbClr val="173359"/>
                </a:solidFill>
                <a:latin typeface="Gordita Bold"/>
                <a:ea typeface="Gordita Bold"/>
                <a:cs typeface="Gordita Bold"/>
                <a:sym typeface="Gordita Bold"/>
              </a:rPr>
              <a:t>Interactive</a:t>
            </a:r>
          </a:p>
          <a:p>
            <a:pPr algn="l">
              <a:lnSpc>
                <a:spcPts val="4662"/>
              </a:lnSpc>
            </a:pPr>
            <a:r>
              <a:rPr lang="en-US" sz="4662" b="1">
                <a:solidFill>
                  <a:srgbClr val="173359"/>
                </a:solidFill>
                <a:latin typeface="Gordita Bold"/>
                <a:ea typeface="Gordita Bold"/>
                <a:cs typeface="Gordita Bold"/>
                <a:sym typeface="Gordita Bold"/>
              </a:rPr>
              <a:t>Sales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6119" y="2568066"/>
            <a:ext cx="4608454" cy="826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285">
                <a:solidFill>
                  <a:srgbClr val="31465F"/>
                </a:solidFill>
                <a:latin typeface="Gordita"/>
                <a:ea typeface="Gordita"/>
                <a:cs typeface="Gordita"/>
                <a:sym typeface="Gordita"/>
              </a:rPr>
              <a:t>Track performance. Uncover trends. Drive smarter decisions.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3848060"/>
            <a:ext cx="4364182" cy="5159898"/>
          </a:xfrm>
          <a:custGeom>
            <a:avLst/>
            <a:gdLst/>
            <a:ahLst/>
            <a:cxnLst/>
            <a:rect l="l" t="t" r="r" b="b"/>
            <a:pathLst>
              <a:path w="4364182" h="5159898">
                <a:moveTo>
                  <a:pt x="0" y="0"/>
                </a:moveTo>
                <a:lnTo>
                  <a:pt x="4364182" y="0"/>
                </a:lnTo>
                <a:lnTo>
                  <a:pt x="4364182" y="5159897"/>
                </a:lnTo>
                <a:lnTo>
                  <a:pt x="0" y="51598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723305" y="4346529"/>
            <a:ext cx="3616523" cy="331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1922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What the dashboard tells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6417" y="5533086"/>
            <a:ext cx="2688721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Key takeaway from the data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5990729"/>
            <a:ext cx="3926670" cy="229572"/>
          </a:xfrm>
          <a:custGeom>
            <a:avLst/>
            <a:gdLst/>
            <a:ahLst/>
            <a:cxnLst/>
            <a:rect l="l" t="t" r="r" b="b"/>
            <a:pathLst>
              <a:path w="3926670" h="229572">
                <a:moveTo>
                  <a:pt x="0" y="0"/>
                </a:moveTo>
                <a:lnTo>
                  <a:pt x="3926670" y="0"/>
                </a:lnTo>
                <a:lnTo>
                  <a:pt x="392667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696417" y="6858440"/>
            <a:ext cx="2688721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Key takeaway from the data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7280704"/>
            <a:ext cx="3926670" cy="229572"/>
          </a:xfrm>
          <a:custGeom>
            <a:avLst/>
            <a:gdLst/>
            <a:ahLst/>
            <a:cxnLst/>
            <a:rect l="l" t="t" r="r" b="b"/>
            <a:pathLst>
              <a:path w="3926670" h="229572">
                <a:moveTo>
                  <a:pt x="0" y="0"/>
                </a:moveTo>
                <a:lnTo>
                  <a:pt x="3926670" y="0"/>
                </a:lnTo>
                <a:lnTo>
                  <a:pt x="3926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696417" y="8168733"/>
            <a:ext cx="2688721" cy="25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1494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Key takeaway from the data</a:t>
            </a:r>
          </a:p>
        </p:txBody>
      </p:sp>
      <p:sp>
        <p:nvSpPr>
          <p:cNvPr id="13" name="Freeform 13"/>
          <p:cNvSpPr/>
          <p:nvPr/>
        </p:nvSpPr>
        <p:spPr>
          <a:xfrm>
            <a:off x="6311110" y="1279043"/>
            <a:ext cx="2187560" cy="2579949"/>
          </a:xfrm>
          <a:custGeom>
            <a:avLst/>
            <a:gdLst/>
            <a:ahLst/>
            <a:cxnLst/>
            <a:rect l="l" t="t" r="r" b="b"/>
            <a:pathLst>
              <a:path w="2187560" h="2579949">
                <a:moveTo>
                  <a:pt x="0" y="0"/>
                </a:moveTo>
                <a:lnTo>
                  <a:pt x="2187560" y="0"/>
                </a:lnTo>
                <a:lnTo>
                  <a:pt x="2187560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Freeform 14"/>
          <p:cNvSpPr/>
          <p:nvPr/>
        </p:nvSpPr>
        <p:spPr>
          <a:xfrm>
            <a:off x="6311110" y="1279043"/>
            <a:ext cx="2187560" cy="655919"/>
          </a:xfrm>
          <a:custGeom>
            <a:avLst/>
            <a:gdLst/>
            <a:ahLst/>
            <a:cxnLst/>
            <a:rect l="l" t="t" r="r" b="b"/>
            <a:pathLst>
              <a:path w="2187560" h="655919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633248" y="2554641"/>
            <a:ext cx="1395158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2377" b="1" dirty="0">
                <a:solidFill>
                  <a:srgbClr val="17335F"/>
                </a:solidFill>
                <a:latin typeface="Gordita Bold"/>
                <a:ea typeface="Gordita Bold"/>
                <a:cs typeface="Gordita Bold"/>
                <a:sym typeface="Gordita Bold"/>
              </a:rPr>
              <a:t>[139.40m]</a:t>
            </a:r>
          </a:p>
        </p:txBody>
      </p:sp>
      <p:sp>
        <p:nvSpPr>
          <p:cNvPr id="16" name="Freeform 16"/>
          <p:cNvSpPr/>
          <p:nvPr/>
        </p:nvSpPr>
        <p:spPr>
          <a:xfrm>
            <a:off x="8487732" y="1279043"/>
            <a:ext cx="2187560" cy="2579949"/>
          </a:xfrm>
          <a:custGeom>
            <a:avLst/>
            <a:gdLst/>
            <a:ahLst/>
            <a:cxnLst/>
            <a:rect l="l" t="t" r="r" b="b"/>
            <a:pathLst>
              <a:path w="2187560" h="2579949">
                <a:moveTo>
                  <a:pt x="0" y="0"/>
                </a:moveTo>
                <a:lnTo>
                  <a:pt x="2187560" y="0"/>
                </a:lnTo>
                <a:lnTo>
                  <a:pt x="2187560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8487732" y="1279043"/>
            <a:ext cx="2187560" cy="655919"/>
          </a:xfrm>
          <a:custGeom>
            <a:avLst/>
            <a:gdLst/>
            <a:ahLst/>
            <a:cxnLst/>
            <a:rect l="l" t="t" r="r" b="b"/>
            <a:pathLst>
              <a:path w="2187560" h="655919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8829951" y="2554641"/>
            <a:ext cx="1395158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2377" b="1" dirty="0">
                <a:solidFill>
                  <a:srgbClr val="318689"/>
                </a:solidFill>
                <a:latin typeface="Gordita Bold"/>
                <a:ea typeface="Gordita Bold"/>
                <a:cs typeface="Gordita Bold"/>
                <a:sym typeface="Gordita Bold"/>
              </a:rPr>
              <a:t>[1k]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664354" y="1279043"/>
            <a:ext cx="2406316" cy="2579949"/>
          </a:xfrm>
          <a:custGeom>
            <a:avLst/>
            <a:gdLst/>
            <a:ahLst/>
            <a:cxnLst/>
            <a:rect l="l" t="t" r="r" b="b"/>
            <a:pathLst>
              <a:path w="2406316" h="2579949">
                <a:moveTo>
                  <a:pt x="0" y="0"/>
                </a:moveTo>
                <a:lnTo>
                  <a:pt x="2406316" y="0"/>
                </a:lnTo>
                <a:lnTo>
                  <a:pt x="2406316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0664354" y="1279043"/>
            <a:ext cx="2406316" cy="655919"/>
          </a:xfrm>
          <a:custGeom>
            <a:avLst/>
            <a:gdLst/>
            <a:ahLst/>
            <a:cxnLst/>
            <a:rect l="l" t="t" r="r" b="b"/>
            <a:pathLst>
              <a:path w="2406316" h="655919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10815410" y="1644202"/>
            <a:ext cx="2031960" cy="14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AVERAGE ORDER VALUE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33810" y="2554641"/>
            <a:ext cx="1395158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2377" b="1" dirty="0">
                <a:solidFill>
                  <a:srgbClr val="17335F"/>
                </a:solidFill>
                <a:latin typeface="Gordita Bold"/>
                <a:ea typeface="Gordita Bold"/>
                <a:cs typeface="Gordita Bold"/>
                <a:sym typeface="Gordita Bold"/>
              </a:rPr>
              <a:t>[139.4k]</a:t>
            </a:r>
          </a:p>
        </p:txBody>
      </p:sp>
      <p:sp>
        <p:nvSpPr>
          <p:cNvPr id="24" name="Freeform 24"/>
          <p:cNvSpPr/>
          <p:nvPr/>
        </p:nvSpPr>
        <p:spPr>
          <a:xfrm>
            <a:off x="13059732" y="1279043"/>
            <a:ext cx="2187560" cy="655919"/>
          </a:xfrm>
          <a:custGeom>
            <a:avLst/>
            <a:gdLst/>
            <a:ahLst/>
            <a:cxnLst/>
            <a:rect l="l" t="t" r="r" b="b"/>
            <a:pathLst>
              <a:path w="2187560" h="655919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13491248" y="2554641"/>
            <a:ext cx="1395158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2377" b="1" dirty="0">
                <a:solidFill>
                  <a:srgbClr val="318689"/>
                </a:solidFill>
                <a:latin typeface="Gordita Bold"/>
                <a:ea typeface="Gordita Bold"/>
                <a:cs typeface="Gordita Bold"/>
                <a:sym typeface="Gordita Bold"/>
              </a:rPr>
              <a:t>[]25.49k</a:t>
            </a:r>
          </a:p>
        </p:txBody>
      </p:sp>
      <p:sp>
        <p:nvSpPr>
          <p:cNvPr id="29" name="Freeform 29"/>
          <p:cNvSpPr/>
          <p:nvPr/>
        </p:nvSpPr>
        <p:spPr>
          <a:xfrm>
            <a:off x="4779818" y="4066699"/>
            <a:ext cx="4364182" cy="4941258"/>
          </a:xfrm>
          <a:custGeom>
            <a:avLst/>
            <a:gdLst/>
            <a:ahLst/>
            <a:cxnLst/>
            <a:rect l="l" t="t" r="r" b="b"/>
            <a:pathLst>
              <a:path w="4364182" h="4941258">
                <a:moveTo>
                  <a:pt x="0" y="0"/>
                </a:moveTo>
                <a:lnTo>
                  <a:pt x="4364182" y="0"/>
                </a:lnTo>
                <a:lnTo>
                  <a:pt x="4364182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TextBox 30"/>
          <p:cNvSpPr txBox="1"/>
          <p:nvPr/>
        </p:nvSpPr>
        <p:spPr>
          <a:xfrm>
            <a:off x="6151735" y="4642156"/>
            <a:ext cx="1648809" cy="167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8"/>
              </a:lnSpc>
            </a:pPr>
            <a:r>
              <a:rPr lang="en-US" sz="1388" b="1">
                <a:solidFill>
                  <a:srgbClr val="17335F"/>
                </a:solidFill>
                <a:latin typeface="Gordita Bold"/>
                <a:ea typeface="Gordita Bold"/>
                <a:cs typeface="Gordita Bold"/>
                <a:sym typeface="Gordita Bold"/>
              </a:rPr>
              <a:t>REVENUE TREND</a:t>
            </a:r>
          </a:p>
        </p:txBody>
      </p:sp>
      <p:sp>
        <p:nvSpPr>
          <p:cNvPr id="31" name="Freeform 31"/>
          <p:cNvSpPr/>
          <p:nvPr/>
        </p:nvSpPr>
        <p:spPr>
          <a:xfrm>
            <a:off x="4998574" y="5356674"/>
            <a:ext cx="3937608" cy="3224936"/>
          </a:xfrm>
          <a:custGeom>
            <a:avLst/>
            <a:gdLst/>
            <a:ahLst/>
            <a:cxnLst/>
            <a:rect l="l" t="t" r="r" b="b"/>
            <a:pathLst>
              <a:path w="3937608" h="3224936">
                <a:moveTo>
                  <a:pt x="0" y="0"/>
                </a:moveTo>
                <a:lnTo>
                  <a:pt x="3937608" y="0"/>
                </a:lnTo>
                <a:lnTo>
                  <a:pt x="393760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9144000" y="4066699"/>
            <a:ext cx="4145426" cy="4941258"/>
          </a:xfrm>
          <a:custGeom>
            <a:avLst/>
            <a:gdLst/>
            <a:ahLst/>
            <a:cxnLst/>
            <a:rect l="l" t="t" r="r" b="b"/>
            <a:pathLst>
              <a:path w="4145426" h="4941258">
                <a:moveTo>
                  <a:pt x="0" y="0"/>
                </a:moveTo>
                <a:lnTo>
                  <a:pt x="4145426" y="0"/>
                </a:lnTo>
                <a:lnTo>
                  <a:pt x="4145426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TextBox 33"/>
          <p:cNvSpPr txBox="1"/>
          <p:nvPr/>
        </p:nvSpPr>
        <p:spPr>
          <a:xfrm>
            <a:off x="9997513" y="4642714"/>
            <a:ext cx="2445635" cy="16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4"/>
              </a:lnSpc>
            </a:pPr>
            <a:r>
              <a:rPr lang="en-US" sz="1344" b="1">
                <a:solidFill>
                  <a:srgbClr val="17335F"/>
                </a:solidFill>
                <a:latin typeface="Gordita Bold"/>
                <a:ea typeface="Gordita Bold"/>
                <a:cs typeface="Gordita Bold"/>
                <a:sym typeface="Gordita Bold"/>
              </a:rPr>
              <a:t>CATEGORY BREAKDOWN</a:t>
            </a:r>
          </a:p>
        </p:txBody>
      </p:sp>
      <p:sp>
        <p:nvSpPr>
          <p:cNvPr id="34" name="Freeform 34"/>
          <p:cNvSpPr/>
          <p:nvPr/>
        </p:nvSpPr>
        <p:spPr>
          <a:xfrm>
            <a:off x="9789330" y="5356674"/>
            <a:ext cx="2843828" cy="3006296"/>
          </a:xfrm>
          <a:custGeom>
            <a:avLst/>
            <a:gdLst/>
            <a:ahLst/>
            <a:cxnLst/>
            <a:rect l="l" t="t" r="r" b="b"/>
            <a:pathLst>
              <a:path w="2843828" h="3006296">
                <a:moveTo>
                  <a:pt x="0" y="0"/>
                </a:moveTo>
                <a:lnTo>
                  <a:pt x="2843828" y="0"/>
                </a:lnTo>
                <a:lnTo>
                  <a:pt x="284382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13278488" y="4066699"/>
            <a:ext cx="4364182" cy="4941258"/>
          </a:xfrm>
          <a:custGeom>
            <a:avLst/>
            <a:gdLst/>
            <a:ahLst/>
            <a:cxnLst/>
            <a:rect l="l" t="t" r="r" b="b"/>
            <a:pathLst>
              <a:path w="4364182" h="4941258">
                <a:moveTo>
                  <a:pt x="0" y="0"/>
                </a:moveTo>
                <a:lnTo>
                  <a:pt x="4364182" y="0"/>
                </a:lnTo>
                <a:lnTo>
                  <a:pt x="4364182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TextBox 36"/>
          <p:cNvSpPr txBox="1"/>
          <p:nvPr/>
        </p:nvSpPr>
        <p:spPr>
          <a:xfrm>
            <a:off x="14016931" y="4642156"/>
            <a:ext cx="2895182" cy="167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8"/>
              </a:lnSpc>
            </a:pPr>
            <a:r>
              <a:rPr lang="en-US" sz="1388" b="1">
                <a:solidFill>
                  <a:srgbClr val="17335F"/>
                </a:solidFill>
                <a:latin typeface="Gordita Bold"/>
                <a:ea typeface="Gordita Bold"/>
                <a:cs typeface="Gordita Bold"/>
                <a:sym typeface="Gordita Bold"/>
              </a:rPr>
              <a:t>TOP PERFORMING SEGMENTS</a:t>
            </a:r>
          </a:p>
        </p:txBody>
      </p:sp>
      <p:sp>
        <p:nvSpPr>
          <p:cNvPr id="37" name="Freeform 37"/>
          <p:cNvSpPr/>
          <p:nvPr/>
        </p:nvSpPr>
        <p:spPr>
          <a:xfrm>
            <a:off x="13716000" y="5356674"/>
            <a:ext cx="3489158" cy="2787657"/>
          </a:xfrm>
          <a:custGeom>
            <a:avLst/>
            <a:gdLst/>
            <a:ahLst/>
            <a:cxnLst/>
            <a:rect l="l" t="t" r="r" b="b"/>
            <a:pathLst>
              <a:path w="3489158" h="2787657">
                <a:moveTo>
                  <a:pt x="0" y="0"/>
                </a:moveTo>
                <a:lnTo>
                  <a:pt x="3489158" y="0"/>
                </a:lnTo>
                <a:lnTo>
                  <a:pt x="3489158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8" name="TextBox 38"/>
          <p:cNvSpPr txBox="1"/>
          <p:nvPr/>
        </p:nvSpPr>
        <p:spPr>
          <a:xfrm>
            <a:off x="11022365" y="3346077"/>
            <a:ext cx="1618049" cy="14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>
                <a:solidFill>
                  <a:srgbClr val="17335F"/>
                </a:solidFill>
                <a:latin typeface="Gordita"/>
                <a:ea typeface="Gordita"/>
                <a:cs typeface="Gordita"/>
                <a:sym typeface="Gordita"/>
              </a:rPr>
              <a:t>Average Order Value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23305" y="6423808"/>
            <a:ext cx="3616523" cy="38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Insight 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684374" y="1644202"/>
            <a:ext cx="1514826" cy="14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ADDITIONAL KPI 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23305" y="5113515"/>
            <a:ext cx="3616523" cy="38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Insight 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23305" y="7749162"/>
            <a:ext cx="3616523" cy="38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2188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Insight 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409981" y="1644202"/>
            <a:ext cx="1485362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 b="1" dirty="0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AD1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43231" y="1644202"/>
            <a:ext cx="1383764" cy="14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 b="1" dirty="0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TOTAL REVENUE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881218" y="1644202"/>
            <a:ext cx="1277086" cy="14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 b="1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TOTAL ORDERS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554859" y="3346077"/>
            <a:ext cx="1195605" cy="14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>
                <a:solidFill>
                  <a:srgbClr val="17335F"/>
                </a:solidFill>
                <a:latin typeface="Gordita"/>
                <a:ea typeface="Gordita"/>
                <a:cs typeface="Gordita"/>
                <a:sym typeface="Gordita"/>
              </a:rPr>
              <a:t>Additional KPI 1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842971" y="3346077"/>
            <a:ext cx="1227100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 dirty="0">
                <a:solidFill>
                  <a:srgbClr val="17335F"/>
                </a:solidFill>
                <a:latin typeface="Gordita"/>
                <a:ea typeface="Gordita"/>
                <a:cs typeface="Gordita"/>
                <a:sym typeface="Gordita"/>
              </a:rPr>
              <a:t>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781201" y="3346077"/>
            <a:ext cx="1107824" cy="14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>
                <a:solidFill>
                  <a:srgbClr val="17335F"/>
                </a:solidFill>
                <a:latin typeface="Gordita"/>
                <a:ea typeface="Gordita"/>
                <a:cs typeface="Gordita"/>
                <a:sym typeface="Gordita"/>
              </a:rPr>
              <a:t>Total Revenue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043572" y="3346077"/>
            <a:ext cx="952379" cy="14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>
                <a:solidFill>
                  <a:srgbClr val="17335F"/>
                </a:solidFill>
                <a:latin typeface="Gordita"/>
                <a:ea typeface="Gordita"/>
                <a:cs typeface="Gordita"/>
                <a:sym typeface="Gordita"/>
              </a:rPr>
              <a:t>Total Orders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78341" y="838547"/>
            <a:ext cx="10569814" cy="107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5"/>
              </a:lnSpc>
            </a:pPr>
            <a:r>
              <a:rPr lang="en-US" sz="8295" b="1" spc="-247">
                <a:solidFill>
                  <a:srgbClr val="082544"/>
                </a:solidFill>
                <a:latin typeface="Gordita Bold"/>
                <a:ea typeface="Gordita Bold"/>
                <a:cs typeface="Gordita Bold"/>
                <a:sym typeface="Gordita Bold"/>
              </a:rPr>
              <a:t>Business Hypothesis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2300" y="2251258"/>
            <a:ext cx="10173910" cy="47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707">
                <a:solidFill>
                  <a:srgbClr val="193456"/>
                </a:solidFill>
                <a:latin typeface="Gordita"/>
                <a:ea typeface="Gordita"/>
                <a:cs typeface="Gordita"/>
                <a:sym typeface="Gordita"/>
              </a:rPr>
              <a:t>We test whether </a:t>
            </a:r>
            <a:r>
              <a:rPr lang="en-US" sz="2707" b="1">
                <a:solidFill>
                  <a:srgbClr val="1F828E"/>
                </a:solidFill>
                <a:latin typeface="Gordita Bold"/>
                <a:ea typeface="Gordita Bold"/>
                <a:cs typeface="Gordita Bold"/>
                <a:sym typeface="Gordita Bold"/>
              </a:rPr>
              <a:t>average sales</a:t>
            </a:r>
            <a:r>
              <a:rPr lang="en-US" sz="2707">
                <a:solidFill>
                  <a:srgbClr val="193456"/>
                </a:solidFill>
                <a:latin typeface="Gordita"/>
                <a:ea typeface="Gordita"/>
                <a:cs typeface="Gordita"/>
                <a:sym typeface="Gordita"/>
              </a:rPr>
              <a:t> differ between two groups.</a:t>
            </a:r>
          </a:p>
        </p:txBody>
      </p:sp>
      <p:sp>
        <p:nvSpPr>
          <p:cNvPr id="5" name="Freeform 5"/>
          <p:cNvSpPr/>
          <p:nvPr/>
        </p:nvSpPr>
        <p:spPr>
          <a:xfrm>
            <a:off x="864086" y="2995365"/>
            <a:ext cx="8072096" cy="863627"/>
          </a:xfrm>
          <a:custGeom>
            <a:avLst/>
            <a:gdLst/>
            <a:ahLst/>
            <a:cxnLst/>
            <a:rect l="l" t="t" r="r" b="b"/>
            <a:pathLst>
              <a:path w="8072096" h="863627">
                <a:moveTo>
                  <a:pt x="0" y="0"/>
                </a:moveTo>
                <a:lnTo>
                  <a:pt x="8072096" y="0"/>
                </a:lnTo>
                <a:lnTo>
                  <a:pt x="807209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4149814" y="3230212"/>
            <a:ext cx="1483738" cy="472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707" b="1">
                <a:solidFill>
                  <a:srgbClr val="FFFFFF">
                    <a:alpha val="80000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Group A</a:t>
            </a:r>
          </a:p>
        </p:txBody>
      </p:sp>
      <p:sp>
        <p:nvSpPr>
          <p:cNvPr id="7" name="Freeform 7"/>
          <p:cNvSpPr/>
          <p:nvPr/>
        </p:nvSpPr>
        <p:spPr>
          <a:xfrm>
            <a:off x="864086" y="3848060"/>
            <a:ext cx="8072096" cy="2153601"/>
          </a:xfrm>
          <a:custGeom>
            <a:avLst/>
            <a:gdLst/>
            <a:ahLst/>
            <a:cxnLst/>
            <a:rect l="l" t="t" r="r" b="b"/>
            <a:pathLst>
              <a:path w="8072096" h="2153601">
                <a:moveTo>
                  <a:pt x="0" y="0"/>
                </a:moveTo>
                <a:lnTo>
                  <a:pt x="8072096" y="0"/>
                </a:lnTo>
                <a:lnTo>
                  <a:pt x="807209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3843894" y="4524827"/>
            <a:ext cx="2174337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179" spc="-64" dirty="0">
                <a:solidFill>
                  <a:srgbClr val="193456"/>
                </a:solidFill>
                <a:latin typeface="Gordita"/>
                <a:ea typeface="Gordita"/>
                <a:cs typeface="Gordita"/>
                <a:sym typeface="Gordita"/>
              </a:rPr>
              <a:t>[AGE&lt;30  ]</a:t>
            </a:r>
          </a:p>
        </p:txBody>
      </p:sp>
      <p:sp>
        <p:nvSpPr>
          <p:cNvPr id="9" name="Freeform 9"/>
          <p:cNvSpPr/>
          <p:nvPr/>
        </p:nvSpPr>
        <p:spPr>
          <a:xfrm>
            <a:off x="9144000" y="2995365"/>
            <a:ext cx="8279914" cy="863627"/>
          </a:xfrm>
          <a:custGeom>
            <a:avLst/>
            <a:gdLst/>
            <a:ahLst/>
            <a:cxnLst/>
            <a:rect l="l" t="t" r="r" b="b"/>
            <a:pathLst>
              <a:path w="8279914" h="863627">
                <a:moveTo>
                  <a:pt x="0" y="0"/>
                </a:moveTo>
                <a:lnTo>
                  <a:pt x="8279914" y="0"/>
                </a:lnTo>
                <a:lnTo>
                  <a:pt x="827991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2442707" y="3238482"/>
            <a:ext cx="1453593" cy="46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1"/>
              </a:lnSpc>
            </a:pPr>
            <a:r>
              <a:rPr lang="en-US" sz="2641" b="1">
                <a:solidFill>
                  <a:srgbClr val="FFFFFF">
                    <a:alpha val="80000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Group B</a:t>
            </a:r>
          </a:p>
        </p:txBody>
      </p:sp>
      <p:sp>
        <p:nvSpPr>
          <p:cNvPr id="11" name="Freeform 11"/>
          <p:cNvSpPr/>
          <p:nvPr/>
        </p:nvSpPr>
        <p:spPr>
          <a:xfrm>
            <a:off x="9144000" y="3848060"/>
            <a:ext cx="8279914" cy="2153601"/>
          </a:xfrm>
          <a:custGeom>
            <a:avLst/>
            <a:gdLst/>
            <a:ahLst/>
            <a:cxnLst/>
            <a:rect l="l" t="t" r="r" b="b"/>
            <a:pathLst>
              <a:path w="8279914" h="2153601">
                <a:moveTo>
                  <a:pt x="0" y="0"/>
                </a:moveTo>
                <a:lnTo>
                  <a:pt x="8279914" y="0"/>
                </a:lnTo>
                <a:lnTo>
                  <a:pt x="827991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2121715" y="4524827"/>
            <a:ext cx="2174337" cy="33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sz="2179" spc="-64" dirty="0">
                <a:solidFill>
                  <a:srgbClr val="193456"/>
                </a:solidFill>
                <a:latin typeface="Gordita"/>
                <a:ea typeface="Gordita"/>
                <a:cs typeface="Gordita"/>
                <a:sym typeface="Gordita"/>
              </a:rPr>
              <a:t>[AGE&gt;30]</a:t>
            </a:r>
          </a:p>
        </p:txBody>
      </p:sp>
      <p:sp>
        <p:nvSpPr>
          <p:cNvPr id="13" name="Freeform 13"/>
          <p:cNvSpPr/>
          <p:nvPr/>
        </p:nvSpPr>
        <p:spPr>
          <a:xfrm>
            <a:off x="8268976" y="3421712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8711115" y="3928185"/>
            <a:ext cx="685569" cy="514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</a:pPr>
            <a:r>
              <a:rPr lang="en-US" sz="3924" b="1" spc="-116">
                <a:solidFill>
                  <a:srgbClr val="082544"/>
                </a:solidFill>
                <a:latin typeface="Gordita Bold"/>
                <a:ea typeface="Gordita Bold"/>
                <a:cs typeface="Gordita Bold"/>
                <a:sym typeface="Gordita Bold"/>
              </a:rPr>
              <a:t>vs.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864086" y="5990729"/>
            <a:ext cx="16559828" cy="2590881"/>
          </a:xfrm>
          <a:custGeom>
            <a:avLst/>
            <a:gdLst/>
            <a:ahLst/>
            <a:cxnLst/>
            <a:rect l="l" t="t" r="r" b="b"/>
            <a:pathLst>
              <a:path w="16559828" h="2590881">
                <a:moveTo>
                  <a:pt x="0" y="0"/>
                </a:moveTo>
                <a:lnTo>
                  <a:pt x="16559828" y="0"/>
                </a:lnTo>
                <a:lnTo>
                  <a:pt x="16559828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301598" y="6635716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656790" y="6861379"/>
            <a:ext cx="706387" cy="801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0"/>
              </a:lnSpc>
            </a:pPr>
            <a:r>
              <a:rPr lang="en-US" sz="4486" b="1" spc="-133">
                <a:solidFill>
                  <a:srgbClr val="FFFFFF">
                    <a:alpha val="80000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H0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02897" y="6676329"/>
            <a:ext cx="5105616" cy="125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285">
                <a:solidFill>
                  <a:srgbClr val="193456"/>
                </a:solidFill>
                <a:latin typeface="Gordita"/>
                <a:ea typeface="Gordita"/>
                <a:cs typeface="Gordita"/>
                <a:sym typeface="Gordita"/>
              </a:rPr>
              <a:t>There is </a:t>
            </a:r>
            <a:r>
              <a:rPr lang="en-US" sz="2285" b="1">
                <a:solidFill>
                  <a:srgbClr val="193456"/>
                </a:solidFill>
                <a:latin typeface="Gordita Bold"/>
                <a:ea typeface="Gordita Bold"/>
                <a:cs typeface="Gordita Bold"/>
                <a:sym typeface="Gordita Bold"/>
              </a:rPr>
              <a:t>no statistically significant</a:t>
            </a:r>
            <a:r>
              <a:rPr lang="en-US" sz="2285">
                <a:solidFill>
                  <a:srgbClr val="193456"/>
                </a:solidFill>
                <a:latin typeface="Gordita"/>
                <a:ea typeface="Gordita"/>
                <a:cs typeface="Gordita"/>
                <a:sym typeface="Gordita"/>
              </a:rPr>
              <a:t> difference in average sales between Group A and Group B.</a:t>
            </a:r>
          </a:p>
        </p:txBody>
      </p:sp>
      <p:sp>
        <p:nvSpPr>
          <p:cNvPr id="19" name="Freeform 19"/>
          <p:cNvSpPr/>
          <p:nvPr/>
        </p:nvSpPr>
        <p:spPr>
          <a:xfrm>
            <a:off x="8925244" y="6428009"/>
            <a:ext cx="218756" cy="1716322"/>
          </a:xfrm>
          <a:custGeom>
            <a:avLst/>
            <a:gdLst/>
            <a:ahLst/>
            <a:cxnLst/>
            <a:rect l="l" t="t" r="r" b="b"/>
            <a:pathLst>
              <a:path w="218756" h="1716322">
                <a:moveTo>
                  <a:pt x="0" y="0"/>
                </a:moveTo>
                <a:lnTo>
                  <a:pt x="218756" y="0"/>
                </a:lnTo>
                <a:lnTo>
                  <a:pt x="218756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9570574" y="6635716"/>
            <a:ext cx="1542230" cy="1508614"/>
          </a:xfrm>
          <a:custGeom>
            <a:avLst/>
            <a:gdLst/>
            <a:ahLst/>
            <a:cxnLst/>
            <a:rect l="l" t="t" r="r" b="b"/>
            <a:pathLst>
              <a:path w="1542230" h="1508614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9986963" y="6869648"/>
            <a:ext cx="601680" cy="794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1"/>
              </a:lnSpc>
            </a:pPr>
            <a:r>
              <a:rPr lang="en-US" sz="4420" b="1" spc="-131">
                <a:solidFill>
                  <a:srgbClr val="FFFFFF">
                    <a:alpha val="80000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H1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80717" y="6641870"/>
            <a:ext cx="5105616" cy="1314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2"/>
              </a:lnSpc>
            </a:pPr>
            <a:r>
              <a:rPr lang="en-US" sz="2381">
                <a:solidFill>
                  <a:srgbClr val="193456"/>
                </a:solidFill>
                <a:latin typeface="Gordita"/>
                <a:ea typeface="Gordita"/>
                <a:cs typeface="Gordita"/>
                <a:sym typeface="Gordita"/>
              </a:rPr>
              <a:t>There is </a:t>
            </a:r>
            <a:r>
              <a:rPr lang="en-US" sz="2381" b="1">
                <a:solidFill>
                  <a:srgbClr val="1F828E"/>
                </a:solidFill>
                <a:latin typeface="Gordita Bold"/>
                <a:ea typeface="Gordita Bold"/>
                <a:cs typeface="Gordita Bold"/>
                <a:sym typeface="Gordita Bold"/>
              </a:rPr>
              <a:t>a statistically significant</a:t>
            </a:r>
            <a:r>
              <a:rPr lang="en-US" sz="2381">
                <a:solidFill>
                  <a:srgbClr val="193456"/>
                </a:solidFill>
                <a:latin typeface="Gordita"/>
                <a:ea typeface="Gordita"/>
                <a:cs typeface="Gordita"/>
                <a:sym typeface="Gordita"/>
              </a:rPr>
              <a:t> difference in average sales between Group A and Group B.</a:t>
            </a:r>
          </a:p>
        </p:txBody>
      </p:sp>
      <p:sp>
        <p:nvSpPr>
          <p:cNvPr id="23" name="Freeform 23"/>
          <p:cNvSpPr/>
          <p:nvPr/>
        </p:nvSpPr>
        <p:spPr>
          <a:xfrm>
            <a:off x="864086" y="8570678"/>
            <a:ext cx="16559828" cy="1082267"/>
          </a:xfrm>
          <a:custGeom>
            <a:avLst/>
            <a:gdLst/>
            <a:ahLst/>
            <a:cxnLst/>
            <a:rect l="l" t="t" r="r" b="b"/>
            <a:pathLst>
              <a:path w="16559828" h="1082267">
                <a:moveTo>
                  <a:pt x="0" y="0"/>
                </a:moveTo>
                <a:lnTo>
                  <a:pt x="16559828" y="0"/>
                </a:lnTo>
                <a:lnTo>
                  <a:pt x="1655982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6712525" y="8884554"/>
            <a:ext cx="4523085" cy="461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2540" b="1">
                <a:solidFill>
                  <a:srgbClr val="FFFFFF">
                    <a:alpha val="80000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Significance level: α = 0.05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8570678"/>
            <a:ext cx="15684804" cy="1716322"/>
          </a:xfrm>
          <a:custGeom>
            <a:avLst/>
            <a:gdLst/>
            <a:ahLst/>
            <a:cxnLst/>
            <a:rect l="l" t="t" r="r" b="b"/>
            <a:pathLst>
              <a:path w="15684804" h="1716322">
                <a:moveTo>
                  <a:pt x="0" y="0"/>
                </a:moveTo>
                <a:lnTo>
                  <a:pt x="15684804" y="0"/>
                </a:lnTo>
                <a:lnTo>
                  <a:pt x="1568480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800784" y="776901"/>
            <a:ext cx="5646612" cy="2091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37"/>
              </a:lnSpc>
            </a:pPr>
            <a:r>
              <a:rPr lang="en-US" sz="8198" b="1" spc="80">
                <a:solidFill>
                  <a:srgbClr val="0D2F52"/>
                </a:solidFill>
                <a:latin typeface="Gordita Bold"/>
                <a:ea typeface="Gordita Bold"/>
                <a:cs typeface="Gordita Bold"/>
                <a:sym typeface="Gordita Bold"/>
              </a:rPr>
              <a:t>Statistical Validation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4411" y="3207775"/>
            <a:ext cx="7283903" cy="42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3418" spc="33">
                <a:solidFill>
                  <a:srgbClr val="0D2F52">
                    <a:alpha val="89804"/>
                  </a:srgbClr>
                </a:solidFill>
                <a:latin typeface="Gordita"/>
                <a:ea typeface="Gordita"/>
                <a:cs typeface="Gordita"/>
                <a:sym typeface="Gordita"/>
              </a:rPr>
              <a:t>Independent Two-Sample T-Test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3848060"/>
            <a:ext cx="3062584" cy="2372241"/>
          </a:xfrm>
          <a:custGeom>
            <a:avLst/>
            <a:gdLst/>
            <a:ahLst/>
            <a:cxnLst/>
            <a:rect l="l" t="t" r="r" b="b"/>
            <a:pathLst>
              <a:path w="3062584" h="2372241">
                <a:moveTo>
                  <a:pt x="0" y="0"/>
                </a:moveTo>
                <a:lnTo>
                  <a:pt x="3062584" y="0"/>
                </a:lnTo>
                <a:lnTo>
                  <a:pt x="306258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317087" y="4470136"/>
            <a:ext cx="1758160" cy="2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863" b="1" spc="-18">
                <a:solidFill>
                  <a:srgbClr val="0D2F52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Group A Mean</a:t>
            </a:r>
          </a:p>
        </p:txBody>
      </p:sp>
      <p:sp>
        <p:nvSpPr>
          <p:cNvPr id="8" name="Freeform 8"/>
          <p:cNvSpPr/>
          <p:nvPr/>
        </p:nvSpPr>
        <p:spPr>
          <a:xfrm>
            <a:off x="1082842" y="4919394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233290" y="5405623"/>
            <a:ext cx="192575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6"/>
              </a:lnSpc>
            </a:pPr>
            <a:r>
              <a:rPr lang="en-US" sz="1740" b="1" spc="-16" dirty="0">
                <a:solidFill>
                  <a:srgbClr val="2B8F8B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[134186.5]</a:t>
            </a:r>
          </a:p>
        </p:txBody>
      </p:sp>
      <p:sp>
        <p:nvSpPr>
          <p:cNvPr id="10" name="Freeform 10"/>
          <p:cNvSpPr/>
          <p:nvPr/>
        </p:nvSpPr>
        <p:spPr>
          <a:xfrm>
            <a:off x="3696976" y="3848060"/>
            <a:ext cx="2843828" cy="2372241"/>
          </a:xfrm>
          <a:custGeom>
            <a:avLst/>
            <a:gdLst/>
            <a:ahLst/>
            <a:cxnLst/>
            <a:rect l="l" t="t" r="r" b="b"/>
            <a:pathLst>
              <a:path w="2843828" h="2372241">
                <a:moveTo>
                  <a:pt x="0" y="0"/>
                </a:moveTo>
                <a:lnTo>
                  <a:pt x="2843828" y="0"/>
                </a:lnTo>
                <a:lnTo>
                  <a:pt x="284382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4246197" y="4470136"/>
            <a:ext cx="1739956" cy="2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863" b="1" spc="-18">
                <a:solidFill>
                  <a:srgbClr val="0D2F52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Group B Mean</a:t>
            </a:r>
          </a:p>
        </p:txBody>
      </p:sp>
      <p:sp>
        <p:nvSpPr>
          <p:cNvPr id="12" name="Freeform 12"/>
          <p:cNvSpPr/>
          <p:nvPr/>
        </p:nvSpPr>
        <p:spPr>
          <a:xfrm>
            <a:off x="3915732" y="4919394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4153298" y="5405623"/>
            <a:ext cx="192575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6"/>
              </a:lnSpc>
            </a:pPr>
            <a:r>
              <a:rPr lang="en-US" sz="1740" b="1" spc="-16" dirty="0">
                <a:solidFill>
                  <a:srgbClr val="2B8F8B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[140983]</a:t>
            </a:r>
          </a:p>
        </p:txBody>
      </p:sp>
      <p:sp>
        <p:nvSpPr>
          <p:cNvPr id="14" name="Freeform 14"/>
          <p:cNvSpPr/>
          <p:nvPr/>
        </p:nvSpPr>
        <p:spPr>
          <a:xfrm>
            <a:off x="6529866" y="3848060"/>
            <a:ext cx="3051646" cy="2372241"/>
          </a:xfrm>
          <a:custGeom>
            <a:avLst/>
            <a:gdLst/>
            <a:ahLst/>
            <a:cxnLst/>
            <a:rect l="l" t="t" r="r" b="b"/>
            <a:pathLst>
              <a:path w="3051646" h="2372241">
                <a:moveTo>
                  <a:pt x="0" y="0"/>
                </a:moveTo>
                <a:lnTo>
                  <a:pt x="3051646" y="0"/>
                </a:lnTo>
                <a:lnTo>
                  <a:pt x="305164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976976" y="4470136"/>
            <a:ext cx="2041797" cy="2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863" b="1" spc="-18">
                <a:solidFill>
                  <a:srgbClr val="0D2F52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Mean Difference</a:t>
            </a:r>
          </a:p>
        </p:txBody>
      </p:sp>
      <p:sp>
        <p:nvSpPr>
          <p:cNvPr id="16" name="Freeform 16"/>
          <p:cNvSpPr/>
          <p:nvPr/>
        </p:nvSpPr>
        <p:spPr>
          <a:xfrm>
            <a:off x="6748622" y="4919394"/>
            <a:ext cx="2395378" cy="229572"/>
          </a:xfrm>
          <a:custGeom>
            <a:avLst/>
            <a:gdLst/>
            <a:ahLst/>
            <a:cxnLst/>
            <a:rect l="l" t="t" r="r" b="b"/>
            <a:pathLst>
              <a:path w="2395378" h="229572">
                <a:moveTo>
                  <a:pt x="0" y="0"/>
                </a:moveTo>
                <a:lnTo>
                  <a:pt x="2395378" y="0"/>
                </a:lnTo>
                <a:lnTo>
                  <a:pt x="239537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7073306" y="5405623"/>
            <a:ext cx="192575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6"/>
              </a:lnSpc>
            </a:pPr>
            <a:r>
              <a:rPr lang="en-US" sz="1740" b="1" spc="-16" dirty="0">
                <a:solidFill>
                  <a:srgbClr val="2B8F8B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[6796.5]</a:t>
            </a:r>
          </a:p>
        </p:txBody>
      </p:sp>
      <p:sp>
        <p:nvSpPr>
          <p:cNvPr id="18" name="Freeform 18"/>
          <p:cNvSpPr/>
          <p:nvPr/>
        </p:nvSpPr>
        <p:spPr>
          <a:xfrm>
            <a:off x="780947" y="6455941"/>
            <a:ext cx="3062584" cy="2372241"/>
          </a:xfrm>
          <a:custGeom>
            <a:avLst/>
            <a:gdLst/>
            <a:ahLst/>
            <a:cxnLst/>
            <a:rect l="l" t="t" r="r" b="b"/>
            <a:pathLst>
              <a:path w="3062584" h="2372241">
                <a:moveTo>
                  <a:pt x="0" y="0"/>
                </a:moveTo>
                <a:lnTo>
                  <a:pt x="3062584" y="0"/>
                </a:lnTo>
                <a:lnTo>
                  <a:pt x="306258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1563649" y="6812977"/>
            <a:ext cx="1265037" cy="239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986" b="1" spc="-19">
                <a:solidFill>
                  <a:srgbClr val="0D2F52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t-statistic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82842" y="7280704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1233290" y="7755114"/>
            <a:ext cx="192575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6"/>
              </a:lnSpc>
            </a:pPr>
            <a:r>
              <a:rPr lang="en-US" sz="1740" b="1" spc="-16" dirty="0">
                <a:solidFill>
                  <a:srgbClr val="2B8F8B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[-.0827]</a:t>
            </a:r>
          </a:p>
        </p:txBody>
      </p:sp>
      <p:sp>
        <p:nvSpPr>
          <p:cNvPr id="22" name="Freeform 22"/>
          <p:cNvSpPr/>
          <p:nvPr/>
        </p:nvSpPr>
        <p:spPr>
          <a:xfrm>
            <a:off x="3696976" y="6209369"/>
            <a:ext cx="2843828" cy="2372241"/>
          </a:xfrm>
          <a:custGeom>
            <a:avLst/>
            <a:gdLst/>
            <a:ahLst/>
            <a:cxnLst/>
            <a:rect l="l" t="t" r="r" b="b"/>
            <a:pathLst>
              <a:path w="2843828" h="2372241">
                <a:moveTo>
                  <a:pt x="0" y="0"/>
                </a:moveTo>
                <a:lnTo>
                  <a:pt x="2843828" y="0"/>
                </a:lnTo>
                <a:lnTo>
                  <a:pt x="284382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4634347" y="6813834"/>
            <a:ext cx="963657" cy="23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7"/>
              </a:lnSpc>
            </a:pPr>
            <a:r>
              <a:rPr lang="en-US" sz="1924" b="1" spc="-18">
                <a:solidFill>
                  <a:srgbClr val="0D2F52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p-value</a:t>
            </a:r>
          </a:p>
        </p:txBody>
      </p:sp>
      <p:sp>
        <p:nvSpPr>
          <p:cNvPr id="24" name="Freeform 24"/>
          <p:cNvSpPr/>
          <p:nvPr/>
        </p:nvSpPr>
        <p:spPr>
          <a:xfrm>
            <a:off x="3915732" y="7280704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4153298" y="7755114"/>
            <a:ext cx="1925754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6"/>
              </a:lnSpc>
            </a:pPr>
            <a:r>
              <a:rPr lang="en-US" sz="1740" b="1" spc="-16" dirty="0">
                <a:solidFill>
                  <a:srgbClr val="2B8F8B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[.409]</a:t>
            </a:r>
          </a:p>
        </p:txBody>
      </p:sp>
      <p:sp>
        <p:nvSpPr>
          <p:cNvPr id="26" name="Freeform 26"/>
          <p:cNvSpPr/>
          <p:nvPr/>
        </p:nvSpPr>
        <p:spPr>
          <a:xfrm>
            <a:off x="6529866" y="6209369"/>
            <a:ext cx="3051646" cy="2372241"/>
          </a:xfrm>
          <a:custGeom>
            <a:avLst/>
            <a:gdLst/>
            <a:ahLst/>
            <a:cxnLst/>
            <a:rect l="l" t="t" r="r" b="b"/>
            <a:pathLst>
              <a:path w="3051646" h="2372241">
                <a:moveTo>
                  <a:pt x="0" y="0"/>
                </a:moveTo>
                <a:lnTo>
                  <a:pt x="3051646" y="0"/>
                </a:lnTo>
                <a:lnTo>
                  <a:pt x="305164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6984429" y="6582387"/>
            <a:ext cx="2026892" cy="51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8"/>
              </a:lnSpc>
            </a:pPr>
            <a:r>
              <a:rPr lang="en-US" sz="1863" b="1" spc="-18" dirty="0">
                <a:solidFill>
                  <a:srgbClr val="0D2F52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95% Confidence</a:t>
            </a:r>
          </a:p>
          <a:p>
            <a:pPr algn="ctr">
              <a:lnSpc>
                <a:spcPts val="2048"/>
              </a:lnSpc>
            </a:pPr>
            <a:r>
              <a:rPr lang="en-US" sz="1863" b="1" spc="-18" dirty="0">
                <a:solidFill>
                  <a:srgbClr val="0D2F52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Interval</a:t>
            </a:r>
          </a:p>
        </p:txBody>
      </p:sp>
      <p:sp>
        <p:nvSpPr>
          <p:cNvPr id="28" name="Freeform 28"/>
          <p:cNvSpPr/>
          <p:nvPr/>
        </p:nvSpPr>
        <p:spPr>
          <a:xfrm>
            <a:off x="6748622" y="7280704"/>
            <a:ext cx="2395378" cy="229572"/>
          </a:xfrm>
          <a:custGeom>
            <a:avLst/>
            <a:gdLst/>
            <a:ahLst/>
            <a:cxnLst/>
            <a:rect l="l" t="t" r="r" b="b"/>
            <a:pathLst>
              <a:path w="2395378" h="229572">
                <a:moveTo>
                  <a:pt x="0" y="0"/>
                </a:moveTo>
                <a:lnTo>
                  <a:pt x="2395378" y="0"/>
                </a:lnTo>
                <a:lnTo>
                  <a:pt x="239537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TextBox 29"/>
          <p:cNvSpPr txBox="1"/>
          <p:nvPr/>
        </p:nvSpPr>
        <p:spPr>
          <a:xfrm>
            <a:off x="7073306" y="7755114"/>
            <a:ext cx="1925754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6"/>
              </a:lnSpc>
            </a:pPr>
            <a:r>
              <a:rPr lang="en-US" sz="1740" b="1" spc="-16" dirty="0">
                <a:solidFill>
                  <a:srgbClr val="2B8F8B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[-22,950.5 to 9,357.5]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73695" y="2778136"/>
            <a:ext cx="4286217" cy="302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6"/>
              </a:lnSpc>
            </a:pPr>
            <a:r>
              <a:rPr lang="en-US" sz="2311" b="1" spc="-22">
                <a:solidFill>
                  <a:srgbClr val="0D2F52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Comparison of Group Means</a:t>
            </a:r>
          </a:p>
        </p:txBody>
      </p:sp>
      <p:sp>
        <p:nvSpPr>
          <p:cNvPr id="31" name="Freeform 31"/>
          <p:cNvSpPr/>
          <p:nvPr/>
        </p:nvSpPr>
        <p:spPr>
          <a:xfrm>
            <a:off x="10664354" y="3421712"/>
            <a:ext cx="6759560" cy="4941258"/>
          </a:xfrm>
          <a:custGeom>
            <a:avLst/>
            <a:gdLst/>
            <a:ahLst/>
            <a:cxnLst/>
            <a:rect l="l" t="t" r="r" b="b"/>
            <a:pathLst>
              <a:path w="6759560" h="4941258">
                <a:moveTo>
                  <a:pt x="0" y="0"/>
                </a:moveTo>
                <a:lnTo>
                  <a:pt x="6759560" y="0"/>
                </a:lnTo>
                <a:lnTo>
                  <a:pt x="6759560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TextBox 32"/>
          <p:cNvSpPr txBox="1"/>
          <p:nvPr/>
        </p:nvSpPr>
        <p:spPr>
          <a:xfrm>
            <a:off x="11619357" y="8596806"/>
            <a:ext cx="1758160" cy="2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863" b="1" spc="-18">
                <a:solidFill>
                  <a:srgbClr val="0D2F52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Group A Mean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843147" y="8596806"/>
            <a:ext cx="1739956" cy="2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863" b="1" spc="-18">
                <a:solidFill>
                  <a:srgbClr val="0D2F52">
                    <a:alpha val="89804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Group B Mean</a:t>
            </a:r>
          </a:p>
        </p:txBody>
      </p:sp>
      <p:sp>
        <p:nvSpPr>
          <p:cNvPr id="34" name="Freeform 34"/>
          <p:cNvSpPr/>
          <p:nvPr/>
        </p:nvSpPr>
        <p:spPr>
          <a:xfrm>
            <a:off x="11528440" y="4493047"/>
            <a:ext cx="1979742" cy="3869923"/>
          </a:xfrm>
          <a:custGeom>
            <a:avLst/>
            <a:gdLst/>
            <a:ahLst/>
            <a:cxnLst/>
            <a:rect l="l" t="t" r="r" b="b"/>
            <a:pathLst>
              <a:path w="1979742" h="3869923">
                <a:moveTo>
                  <a:pt x="0" y="0"/>
                </a:moveTo>
                <a:lnTo>
                  <a:pt x="1979742" y="0"/>
                </a:lnTo>
                <a:lnTo>
                  <a:pt x="197974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12184708" y="3640352"/>
            <a:ext cx="667206" cy="1727254"/>
          </a:xfrm>
          <a:custGeom>
            <a:avLst/>
            <a:gdLst/>
            <a:ahLst/>
            <a:cxnLst/>
            <a:rect l="l" t="t" r="r" b="b"/>
            <a:pathLst>
              <a:path w="667206" h="1727254">
                <a:moveTo>
                  <a:pt x="0" y="0"/>
                </a:moveTo>
                <a:lnTo>
                  <a:pt x="667206" y="0"/>
                </a:lnTo>
                <a:lnTo>
                  <a:pt x="66720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Freeform 36"/>
          <p:cNvSpPr/>
          <p:nvPr/>
        </p:nvSpPr>
        <p:spPr>
          <a:xfrm>
            <a:off x="14798842" y="4919394"/>
            <a:ext cx="1968804" cy="3443576"/>
          </a:xfrm>
          <a:custGeom>
            <a:avLst/>
            <a:gdLst/>
            <a:ahLst/>
            <a:cxnLst/>
            <a:rect l="l" t="t" r="r" b="b"/>
            <a:pathLst>
              <a:path w="1968804" h="3443576">
                <a:moveTo>
                  <a:pt x="0" y="0"/>
                </a:moveTo>
                <a:lnTo>
                  <a:pt x="1968804" y="0"/>
                </a:lnTo>
                <a:lnTo>
                  <a:pt x="1968804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Freeform 37"/>
          <p:cNvSpPr/>
          <p:nvPr/>
        </p:nvSpPr>
        <p:spPr>
          <a:xfrm>
            <a:off x="15455110" y="4285339"/>
            <a:ext cx="448450" cy="1716322"/>
          </a:xfrm>
          <a:custGeom>
            <a:avLst/>
            <a:gdLst/>
            <a:ahLst/>
            <a:cxnLst/>
            <a:rect l="l" t="t" r="r" b="b"/>
            <a:pathLst>
              <a:path w="448450" h="1716322">
                <a:moveTo>
                  <a:pt x="0" y="0"/>
                </a:moveTo>
                <a:lnTo>
                  <a:pt x="448450" y="0"/>
                </a:lnTo>
                <a:lnTo>
                  <a:pt x="44845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8" name="TextBox 38"/>
          <p:cNvSpPr txBox="1"/>
          <p:nvPr/>
        </p:nvSpPr>
        <p:spPr>
          <a:xfrm>
            <a:off x="10175839" y="3487321"/>
            <a:ext cx="400516" cy="202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8"/>
              </a:lnSpc>
            </a:pPr>
            <a:r>
              <a:rPr lang="en-US" sz="1599" spc="-15">
                <a:solidFill>
                  <a:srgbClr val="0D2F52">
                    <a:alpha val="89804"/>
                  </a:srgbClr>
                </a:solidFill>
                <a:latin typeface="Gordita"/>
                <a:ea typeface="Gordita"/>
                <a:cs typeface="Gordita"/>
                <a:sym typeface="Gordita"/>
              </a:rPr>
              <a:t>100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311071" y="4660597"/>
            <a:ext cx="271759" cy="20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1"/>
              </a:lnSpc>
            </a:pPr>
            <a:r>
              <a:rPr lang="en-US" sz="1705" spc="-16">
                <a:solidFill>
                  <a:srgbClr val="0D2F52">
                    <a:alpha val="89804"/>
                  </a:srgbClr>
                </a:solidFill>
                <a:latin typeface="Gordita"/>
                <a:ea typeface="Gordita"/>
                <a:cs typeface="Gordita"/>
                <a:sym typeface="Gordita"/>
              </a:rPr>
              <a:t>75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10685" y="5816158"/>
            <a:ext cx="310394" cy="234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3"/>
              </a:lnSpc>
            </a:pPr>
            <a:r>
              <a:rPr lang="en-US" sz="1757" spc="-17">
                <a:solidFill>
                  <a:srgbClr val="0D2F52">
                    <a:alpha val="89804"/>
                  </a:srgbClr>
                </a:solidFill>
                <a:latin typeface="Gordita"/>
                <a:ea typeface="Gordita"/>
                <a:cs typeface="Gordita"/>
                <a:sym typeface="Gordita"/>
              </a:rPr>
              <a:t>50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310977" y="6990903"/>
            <a:ext cx="281176" cy="234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3"/>
              </a:lnSpc>
            </a:pPr>
            <a:r>
              <a:rPr lang="en-US" sz="1757" spc="-17">
                <a:solidFill>
                  <a:srgbClr val="0D2F52">
                    <a:alpha val="89804"/>
                  </a:srgbClr>
                </a:solidFill>
                <a:latin typeface="Gordita"/>
                <a:ea typeface="Gordita"/>
                <a:cs typeface="Gordita"/>
                <a:sym typeface="Gordita"/>
              </a:rPr>
              <a:t>25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446085" y="8209362"/>
            <a:ext cx="164976" cy="2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sz="1863" spc="-18">
                <a:solidFill>
                  <a:srgbClr val="0D2F52">
                    <a:alpha val="89804"/>
                  </a:srgbClr>
                </a:solidFill>
                <a:latin typeface="Gordita"/>
                <a:ea typeface="Gordita"/>
                <a:cs typeface="Gordita"/>
                <a:sym typeface="Gordita"/>
              </a:rPr>
              <a:t>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34289" y="788507"/>
            <a:ext cx="6938270" cy="1895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88"/>
              </a:lnSpc>
            </a:pPr>
            <a:r>
              <a:rPr lang="en-US" sz="7037" b="1">
                <a:solidFill>
                  <a:srgbClr val="12304F"/>
                </a:solidFill>
                <a:latin typeface="Gordita Bold"/>
                <a:ea typeface="Gordita Bold"/>
                <a:cs typeface="Gordita Bold"/>
                <a:sym typeface="Gordita Bold"/>
              </a:rPr>
              <a:t>What Does the Test Tell Us?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2995365"/>
            <a:ext cx="4364182" cy="4722618"/>
          </a:xfrm>
          <a:custGeom>
            <a:avLst/>
            <a:gdLst/>
            <a:ahLst/>
            <a:cxnLst/>
            <a:rect l="l" t="t" r="r" b="b"/>
            <a:pathLst>
              <a:path w="4364182" h="4722618">
                <a:moveTo>
                  <a:pt x="0" y="0"/>
                </a:moveTo>
                <a:lnTo>
                  <a:pt x="4364182" y="0"/>
                </a:lnTo>
                <a:lnTo>
                  <a:pt x="436418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645330" y="2995365"/>
            <a:ext cx="4364182" cy="1300906"/>
          </a:xfrm>
          <a:custGeom>
            <a:avLst/>
            <a:gdLst/>
            <a:ahLst/>
            <a:cxnLst/>
            <a:rect l="l" t="t" r="r" b="b"/>
            <a:pathLst>
              <a:path w="4364182" h="1300906">
                <a:moveTo>
                  <a:pt x="0" y="0"/>
                </a:moveTo>
                <a:lnTo>
                  <a:pt x="4364182" y="0"/>
                </a:lnTo>
                <a:lnTo>
                  <a:pt x="436418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542009" y="3395353"/>
            <a:ext cx="2554009" cy="41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654" b="1">
                <a:solidFill>
                  <a:srgbClr val="FFFFFF">
                    <a:alpha val="80000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p-value &lt; 0.05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7008" y="4498590"/>
            <a:ext cx="3492140" cy="2116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spc="-36">
                <a:solidFill>
                  <a:srgbClr val="49596B"/>
                </a:solidFill>
                <a:latin typeface="Gordita"/>
                <a:ea typeface="Gordita"/>
                <a:cs typeface="Gordita"/>
                <a:sym typeface="Gordita"/>
              </a:rPr>
              <a:t>The result provides statistical evidence of a difference between the two groups.</a:t>
            </a:r>
          </a:p>
          <a:p>
            <a:pPr algn="l">
              <a:lnSpc>
                <a:spcPts val="2896"/>
              </a:lnSpc>
            </a:pPr>
            <a:endParaRPr lang="en-US" sz="1810" spc="-36">
              <a:solidFill>
                <a:srgbClr val="49596B"/>
              </a:solidFill>
              <a:latin typeface="Gordita"/>
              <a:ea typeface="Gordita"/>
              <a:cs typeface="Gordita"/>
              <a:sym typeface="Gordita"/>
            </a:endParaRPr>
          </a:p>
          <a:p>
            <a:pPr algn="l">
              <a:lnSpc>
                <a:spcPts val="2896"/>
              </a:lnSpc>
            </a:pPr>
            <a:r>
              <a:rPr lang="en-US" sz="1810" spc="-36">
                <a:solidFill>
                  <a:srgbClr val="49596B"/>
                </a:solidFill>
                <a:latin typeface="Gordita"/>
                <a:ea typeface="Gordita"/>
                <a:cs typeface="Gordita"/>
                <a:sym typeface="Gordita"/>
              </a:rPr>
              <a:t>The null hypothesis is rejected at the 5% significance level.</a:t>
            </a:r>
          </a:p>
        </p:txBody>
      </p:sp>
      <p:sp>
        <p:nvSpPr>
          <p:cNvPr id="8" name="Freeform 8"/>
          <p:cNvSpPr/>
          <p:nvPr/>
        </p:nvSpPr>
        <p:spPr>
          <a:xfrm>
            <a:off x="4998574" y="2995365"/>
            <a:ext cx="4364182" cy="4722618"/>
          </a:xfrm>
          <a:custGeom>
            <a:avLst/>
            <a:gdLst/>
            <a:ahLst/>
            <a:cxnLst/>
            <a:rect l="l" t="t" r="r" b="b"/>
            <a:pathLst>
              <a:path w="4364182" h="4722618">
                <a:moveTo>
                  <a:pt x="0" y="0"/>
                </a:moveTo>
                <a:lnTo>
                  <a:pt x="4364182" y="0"/>
                </a:lnTo>
                <a:lnTo>
                  <a:pt x="4364182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4998574" y="2995365"/>
            <a:ext cx="4364182" cy="1300906"/>
          </a:xfrm>
          <a:custGeom>
            <a:avLst/>
            <a:gdLst/>
            <a:ahLst/>
            <a:cxnLst/>
            <a:rect l="l" t="t" r="r" b="b"/>
            <a:pathLst>
              <a:path w="4364182" h="1300906">
                <a:moveTo>
                  <a:pt x="0" y="0"/>
                </a:moveTo>
                <a:lnTo>
                  <a:pt x="4364182" y="0"/>
                </a:lnTo>
                <a:lnTo>
                  <a:pt x="436418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5891499" y="3395353"/>
            <a:ext cx="2564153" cy="413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654" b="1">
                <a:solidFill>
                  <a:srgbClr val="FFFFFF">
                    <a:alpha val="80000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p-value ≥ 0.05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423" y="4508237"/>
            <a:ext cx="3170216" cy="2561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spc="-34">
                <a:solidFill>
                  <a:srgbClr val="49596B"/>
                </a:solidFill>
                <a:latin typeface="Gordita"/>
                <a:ea typeface="Gordita"/>
                <a:cs typeface="Gordita"/>
                <a:sym typeface="Gordita"/>
              </a:rPr>
              <a:t>The result does not provide sufficient statistical evidence of a difference between</a:t>
            </a:r>
          </a:p>
          <a:p>
            <a:pPr algn="l">
              <a:lnSpc>
                <a:spcPts val="2610"/>
              </a:lnSpc>
            </a:pPr>
            <a:r>
              <a:rPr lang="en-US" sz="1740" spc="-34">
                <a:solidFill>
                  <a:srgbClr val="49596B"/>
                </a:solidFill>
                <a:latin typeface="Gordita"/>
                <a:ea typeface="Gordita"/>
                <a:cs typeface="Gordita"/>
                <a:sym typeface="Gordita"/>
              </a:rPr>
              <a:t>the two groups.</a:t>
            </a:r>
          </a:p>
          <a:p>
            <a:pPr algn="l">
              <a:lnSpc>
                <a:spcPts val="2610"/>
              </a:lnSpc>
            </a:pPr>
            <a:endParaRPr lang="en-US" sz="1740" spc="-34">
              <a:solidFill>
                <a:srgbClr val="49596B"/>
              </a:solidFill>
              <a:latin typeface="Gordita"/>
              <a:ea typeface="Gordita"/>
              <a:cs typeface="Gordita"/>
              <a:sym typeface="Gordita"/>
            </a:endParaRPr>
          </a:p>
          <a:p>
            <a:pPr algn="l">
              <a:lnSpc>
                <a:spcPts val="2610"/>
              </a:lnSpc>
            </a:pPr>
            <a:r>
              <a:rPr lang="en-US" sz="1740" spc="-34">
                <a:solidFill>
                  <a:srgbClr val="49596B"/>
                </a:solidFill>
                <a:latin typeface="Gordita"/>
                <a:ea typeface="Gordita"/>
                <a:cs typeface="Gordita"/>
                <a:sym typeface="Gordita"/>
              </a:rPr>
              <a:t>The null hypothesis is not rejected at the 5% significance level.</a:t>
            </a:r>
          </a:p>
        </p:txBody>
      </p:sp>
      <p:sp>
        <p:nvSpPr>
          <p:cNvPr id="12" name="Freeform 12"/>
          <p:cNvSpPr/>
          <p:nvPr/>
        </p:nvSpPr>
        <p:spPr>
          <a:xfrm>
            <a:off x="9570574" y="2569017"/>
            <a:ext cx="5895474" cy="1727254"/>
          </a:xfrm>
          <a:custGeom>
            <a:avLst/>
            <a:gdLst/>
            <a:ahLst/>
            <a:cxnLst/>
            <a:rect l="l" t="t" r="r" b="b"/>
            <a:pathLst>
              <a:path w="5895474" h="1727254">
                <a:moveTo>
                  <a:pt x="0" y="0"/>
                </a:moveTo>
                <a:lnTo>
                  <a:pt x="5895474" y="0"/>
                </a:lnTo>
                <a:lnTo>
                  <a:pt x="589547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9570574" y="2569017"/>
            <a:ext cx="1968804" cy="1727254"/>
          </a:xfrm>
          <a:custGeom>
            <a:avLst/>
            <a:gdLst/>
            <a:ahLst/>
            <a:cxnLst/>
            <a:rect l="l" t="t" r="r" b="b"/>
            <a:pathLst>
              <a:path w="1968804" h="1727254">
                <a:moveTo>
                  <a:pt x="0" y="0"/>
                </a:moveTo>
                <a:lnTo>
                  <a:pt x="1968804" y="0"/>
                </a:lnTo>
                <a:lnTo>
                  <a:pt x="196880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9821687" y="3125424"/>
            <a:ext cx="989859" cy="626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1"/>
              </a:lnSpc>
            </a:pPr>
            <a:r>
              <a:rPr lang="en-US" sz="1986" b="1">
                <a:solidFill>
                  <a:srgbClr val="FFFFFF">
                    <a:alpha val="80000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Actual</a:t>
            </a:r>
          </a:p>
          <a:p>
            <a:pPr algn="l">
              <a:lnSpc>
                <a:spcPts val="2581"/>
              </a:lnSpc>
            </a:pPr>
            <a:r>
              <a:rPr lang="en-US" sz="1986" b="1">
                <a:solidFill>
                  <a:srgbClr val="FFFFFF">
                    <a:alpha val="80000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p-value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67571" y="3313310"/>
            <a:ext cx="1961608" cy="28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01" b="1" spc="-36" dirty="0">
                <a:solidFill>
                  <a:srgbClr val="309292"/>
                </a:solidFill>
                <a:latin typeface="Gordita Bold"/>
                <a:ea typeface="Gordita Bold"/>
                <a:cs typeface="Gordita Bold"/>
                <a:sym typeface="Gordita Bold"/>
              </a:rPr>
              <a:t>[-.827]</a:t>
            </a:r>
          </a:p>
        </p:txBody>
      </p:sp>
      <p:sp>
        <p:nvSpPr>
          <p:cNvPr id="16" name="Freeform 16"/>
          <p:cNvSpPr/>
          <p:nvPr/>
        </p:nvSpPr>
        <p:spPr>
          <a:xfrm>
            <a:off x="9570574" y="4285339"/>
            <a:ext cx="5895474" cy="1716322"/>
          </a:xfrm>
          <a:custGeom>
            <a:avLst/>
            <a:gdLst/>
            <a:ahLst/>
            <a:cxnLst/>
            <a:rect l="l" t="t" r="r" b="b"/>
            <a:pathLst>
              <a:path w="5895474" h="1716322">
                <a:moveTo>
                  <a:pt x="0" y="0"/>
                </a:moveTo>
                <a:lnTo>
                  <a:pt x="5895474" y="0"/>
                </a:lnTo>
                <a:lnTo>
                  <a:pt x="589547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9570574" y="4285339"/>
            <a:ext cx="1968804" cy="1716322"/>
          </a:xfrm>
          <a:custGeom>
            <a:avLst/>
            <a:gdLst/>
            <a:ahLst/>
            <a:cxnLst/>
            <a:rect l="l" t="t" r="r" b="b"/>
            <a:pathLst>
              <a:path w="1968804" h="1716322">
                <a:moveTo>
                  <a:pt x="0" y="0"/>
                </a:moveTo>
                <a:lnTo>
                  <a:pt x="1968804" y="0"/>
                </a:lnTo>
                <a:lnTo>
                  <a:pt x="196880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9817073" y="4738733"/>
            <a:ext cx="1451247" cy="905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b="1">
                <a:solidFill>
                  <a:srgbClr val="FFFFFF">
                    <a:alpha val="80000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Actual 95% confidence interval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67571" y="5045307"/>
            <a:ext cx="1961608" cy="57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01" b="1" spc="-36" dirty="0">
                <a:solidFill>
                  <a:srgbClr val="1F5689"/>
                </a:solidFill>
                <a:latin typeface="Gordita Bold"/>
                <a:ea typeface="Gordita Bold"/>
                <a:cs typeface="Gordita Bold"/>
                <a:sym typeface="Gordita Bold"/>
              </a:rPr>
              <a:t>[-22,950 to 9,357]</a:t>
            </a:r>
          </a:p>
        </p:txBody>
      </p:sp>
      <p:sp>
        <p:nvSpPr>
          <p:cNvPr id="20" name="Freeform 20"/>
          <p:cNvSpPr/>
          <p:nvPr/>
        </p:nvSpPr>
        <p:spPr>
          <a:xfrm>
            <a:off x="9570574" y="5990729"/>
            <a:ext cx="5895474" cy="1727254"/>
          </a:xfrm>
          <a:custGeom>
            <a:avLst/>
            <a:gdLst/>
            <a:ahLst/>
            <a:cxnLst/>
            <a:rect l="l" t="t" r="r" b="b"/>
            <a:pathLst>
              <a:path w="5895474" h="1727254">
                <a:moveTo>
                  <a:pt x="0" y="0"/>
                </a:moveTo>
                <a:lnTo>
                  <a:pt x="5895474" y="0"/>
                </a:lnTo>
                <a:lnTo>
                  <a:pt x="589547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9570574" y="5990729"/>
            <a:ext cx="1968804" cy="1727254"/>
          </a:xfrm>
          <a:custGeom>
            <a:avLst/>
            <a:gdLst/>
            <a:ahLst/>
            <a:cxnLst/>
            <a:rect l="l" t="t" r="r" b="b"/>
            <a:pathLst>
              <a:path w="1968804" h="1727254">
                <a:moveTo>
                  <a:pt x="0" y="0"/>
                </a:moveTo>
                <a:lnTo>
                  <a:pt x="1968804" y="0"/>
                </a:lnTo>
                <a:lnTo>
                  <a:pt x="196880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TextBox 22"/>
          <p:cNvSpPr txBox="1"/>
          <p:nvPr/>
        </p:nvSpPr>
        <p:spPr>
          <a:xfrm>
            <a:off x="9815619" y="6657575"/>
            <a:ext cx="1596705" cy="53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6"/>
              </a:lnSpc>
            </a:pPr>
            <a:r>
              <a:rPr lang="en-US" sz="1705" b="1">
                <a:solidFill>
                  <a:srgbClr val="FFFFFF">
                    <a:alpha val="80000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Business interpretation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54243" y="6496798"/>
            <a:ext cx="3257157" cy="828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16"/>
              </a:lnSpc>
            </a:pPr>
            <a:r>
              <a:rPr lang="en-US" sz="1705" b="1" spc="-34" dirty="0">
                <a:solidFill>
                  <a:srgbClr val="309292"/>
                </a:solidFill>
                <a:latin typeface="Gordita Bold"/>
                <a:ea typeface="Gordita Bold"/>
                <a:cs typeface="Gordita Bold"/>
                <a:sym typeface="Gordita Bold"/>
              </a:rPr>
              <a:t> The observed difference is likely due to normal variation in the data.]</a:t>
            </a:r>
          </a:p>
        </p:txBody>
      </p:sp>
      <p:sp>
        <p:nvSpPr>
          <p:cNvPr id="24" name="Freeform 24"/>
          <p:cNvSpPr/>
          <p:nvPr/>
        </p:nvSpPr>
        <p:spPr>
          <a:xfrm>
            <a:off x="645330" y="8133399"/>
            <a:ext cx="11112804" cy="1300906"/>
          </a:xfrm>
          <a:custGeom>
            <a:avLst/>
            <a:gdLst/>
            <a:ahLst/>
            <a:cxnLst/>
            <a:rect l="l" t="t" r="r" b="b"/>
            <a:pathLst>
              <a:path w="11112804" h="1300906">
                <a:moveTo>
                  <a:pt x="0" y="0"/>
                </a:moveTo>
                <a:lnTo>
                  <a:pt x="11112804" y="0"/>
                </a:lnTo>
                <a:lnTo>
                  <a:pt x="1111280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1232297" y="8398034"/>
            <a:ext cx="8251031" cy="73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spc="-43">
                <a:solidFill>
                  <a:srgbClr val="49596B"/>
                </a:solidFill>
                <a:latin typeface="Gordita"/>
                <a:ea typeface="Gordita"/>
                <a:cs typeface="Gordita"/>
                <a:sym typeface="Gordita"/>
              </a:rPr>
              <a:t>Statistical significance </a:t>
            </a:r>
            <a:r>
              <a:rPr lang="en-US" sz="2188" b="1" spc="-43">
                <a:solidFill>
                  <a:srgbClr val="309292"/>
                </a:solidFill>
                <a:latin typeface="Gordita Bold"/>
                <a:ea typeface="Gordita Bold"/>
                <a:cs typeface="Gordita Bold"/>
                <a:sym typeface="Gordita Bold"/>
              </a:rPr>
              <a:t>shows a difference</a:t>
            </a:r>
            <a:r>
              <a:rPr lang="en-US" sz="2188" spc="-43">
                <a:solidFill>
                  <a:srgbClr val="49596B"/>
                </a:solidFill>
                <a:latin typeface="Gordita"/>
                <a:ea typeface="Gordita"/>
                <a:cs typeface="Gordita"/>
                <a:sym typeface="Gordita"/>
              </a:rPr>
              <a:t> may exist.</a:t>
            </a:r>
          </a:p>
          <a:p>
            <a:pPr algn="l">
              <a:lnSpc>
                <a:spcPts val="3063"/>
              </a:lnSpc>
            </a:pPr>
            <a:r>
              <a:rPr lang="en-US" sz="2188" spc="-43">
                <a:solidFill>
                  <a:srgbClr val="49596B"/>
                </a:solidFill>
                <a:latin typeface="Gordita"/>
                <a:ea typeface="Gordita"/>
                <a:cs typeface="Gordita"/>
                <a:sym typeface="Gordita"/>
              </a:rPr>
              <a:t>Business impact </a:t>
            </a:r>
            <a:r>
              <a:rPr lang="en-US" sz="2188" b="1" spc="-43">
                <a:solidFill>
                  <a:srgbClr val="309292"/>
                </a:solidFill>
                <a:latin typeface="Gordita Bold"/>
                <a:ea typeface="Gordita Bold"/>
                <a:cs typeface="Gordita Bold"/>
                <a:sym typeface="Gordita Bold"/>
              </a:rPr>
              <a:t>determines</a:t>
            </a:r>
            <a:r>
              <a:rPr lang="en-US" sz="2188" spc="-43">
                <a:solidFill>
                  <a:srgbClr val="49596B"/>
                </a:solidFill>
                <a:latin typeface="Gordita"/>
                <a:ea typeface="Gordita"/>
                <a:cs typeface="Gordita"/>
                <a:sym typeface="Gordita"/>
              </a:rPr>
              <a:t> whether that difference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5466048" cy="10287000"/>
          </a:xfrm>
          <a:custGeom>
            <a:avLst/>
            <a:gdLst/>
            <a:ahLst/>
            <a:cxnLst/>
            <a:rect l="l" t="t" r="r" b="b"/>
            <a:pathLst>
              <a:path w="15466048" h="10287000">
                <a:moveTo>
                  <a:pt x="0" y="0"/>
                </a:moveTo>
                <a:lnTo>
                  <a:pt x="15466048" y="0"/>
                </a:lnTo>
                <a:lnTo>
                  <a:pt x="15466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9204733"/>
            <a:ext cx="15684804" cy="1082267"/>
          </a:xfrm>
          <a:custGeom>
            <a:avLst/>
            <a:gdLst/>
            <a:ahLst/>
            <a:cxnLst/>
            <a:rect l="l" t="t" r="r" b="b"/>
            <a:pathLst>
              <a:path w="15684804" h="1082267">
                <a:moveTo>
                  <a:pt x="0" y="0"/>
                </a:moveTo>
                <a:lnTo>
                  <a:pt x="15684804" y="0"/>
                </a:lnTo>
                <a:lnTo>
                  <a:pt x="15684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2840976" y="0"/>
            <a:ext cx="5447024" cy="7510275"/>
          </a:xfrm>
          <a:custGeom>
            <a:avLst/>
            <a:gdLst/>
            <a:ahLst/>
            <a:cxnLst/>
            <a:rect l="l" t="t" r="r" b="b"/>
            <a:pathLst>
              <a:path w="5447024" h="7510275">
                <a:moveTo>
                  <a:pt x="0" y="0"/>
                </a:moveTo>
                <a:lnTo>
                  <a:pt x="5447024" y="0"/>
                </a:lnTo>
                <a:lnTo>
                  <a:pt x="5447024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4580086" y="5356674"/>
            <a:ext cx="3707914" cy="4077631"/>
          </a:xfrm>
          <a:custGeom>
            <a:avLst/>
            <a:gdLst/>
            <a:ahLst/>
            <a:cxnLst/>
            <a:rect l="l" t="t" r="r" b="b"/>
            <a:pathLst>
              <a:path w="3707914" h="4077631">
                <a:moveTo>
                  <a:pt x="0" y="0"/>
                </a:moveTo>
                <a:lnTo>
                  <a:pt x="3707914" y="0"/>
                </a:lnTo>
                <a:lnTo>
                  <a:pt x="3707914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771730" y="828502"/>
            <a:ext cx="8552029" cy="169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6925" b="1">
                <a:solidFill>
                  <a:srgbClr val="082A4D"/>
                </a:solidFill>
                <a:latin typeface="Gordita Bold"/>
                <a:ea typeface="Gordita Bold"/>
                <a:cs typeface="Gordita Bold"/>
                <a:sym typeface="Gordita Bold"/>
              </a:rPr>
              <a:t>Business Recommendations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7698" y="2703417"/>
            <a:ext cx="9634141" cy="44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496">
                <a:solidFill>
                  <a:srgbClr val="2D435A"/>
                </a:solidFill>
                <a:latin typeface="Gordita"/>
                <a:ea typeface="Gordita"/>
                <a:cs typeface="Gordita"/>
                <a:sym typeface="Gordita"/>
              </a:rPr>
              <a:t>Actionable priorities to drive </a:t>
            </a:r>
            <a:r>
              <a:rPr lang="en-US" sz="2496" b="1">
                <a:solidFill>
                  <a:srgbClr val="2D9090"/>
                </a:solidFill>
                <a:latin typeface="Gordita Bold"/>
                <a:ea typeface="Gordita Bold"/>
                <a:cs typeface="Gordita Bold"/>
                <a:sym typeface="Gordita Bold"/>
              </a:rPr>
              <a:t>sales performance and growth.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3421712"/>
            <a:ext cx="3281340" cy="1082267"/>
          </a:xfrm>
          <a:custGeom>
            <a:avLst/>
            <a:gdLst/>
            <a:ahLst/>
            <a:cxnLst/>
            <a:rect l="l" t="t" r="r" b="b"/>
            <a:pathLst>
              <a:path w="3281340" h="1082267">
                <a:moveTo>
                  <a:pt x="0" y="0"/>
                </a:moveTo>
                <a:lnTo>
                  <a:pt x="3281340" y="0"/>
                </a:lnTo>
                <a:lnTo>
                  <a:pt x="328134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3915732" y="3640352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4779818" y="3421712"/>
            <a:ext cx="4364182" cy="1082267"/>
          </a:xfrm>
          <a:custGeom>
            <a:avLst/>
            <a:gdLst/>
            <a:ahLst/>
            <a:cxnLst/>
            <a:rect l="l" t="t" r="r" b="b"/>
            <a:pathLst>
              <a:path w="4364182" h="1082267">
                <a:moveTo>
                  <a:pt x="0" y="0"/>
                </a:moveTo>
                <a:lnTo>
                  <a:pt x="4364182" y="0"/>
                </a:lnTo>
                <a:lnTo>
                  <a:pt x="436418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5582141" y="3697433"/>
            <a:ext cx="2616547" cy="44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2496" b="1">
                <a:solidFill>
                  <a:srgbClr val="E6F2F4"/>
                </a:solidFill>
                <a:latin typeface="Gordita Bold"/>
                <a:ea typeface="Gordita Bold"/>
                <a:cs typeface="Gordita Bold"/>
                <a:sym typeface="Gordita Bold"/>
              </a:rPr>
              <a:t>Business Action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9144000" y="3640352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9789330" y="3421712"/>
            <a:ext cx="3926670" cy="1082267"/>
          </a:xfrm>
          <a:custGeom>
            <a:avLst/>
            <a:gdLst/>
            <a:ahLst/>
            <a:cxnLst/>
            <a:rect l="l" t="t" r="r" b="b"/>
            <a:pathLst>
              <a:path w="3926670" h="1082267">
                <a:moveTo>
                  <a:pt x="0" y="0"/>
                </a:moveTo>
                <a:lnTo>
                  <a:pt x="3926670" y="0"/>
                </a:lnTo>
                <a:lnTo>
                  <a:pt x="392667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0331801" y="3696429"/>
            <a:ext cx="2758075" cy="44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5"/>
              </a:lnSpc>
            </a:pPr>
            <a:r>
              <a:rPr lang="en-US" sz="2443" b="1">
                <a:solidFill>
                  <a:srgbClr val="E6F2F4"/>
                </a:solidFill>
                <a:latin typeface="Gordita Bold"/>
                <a:ea typeface="Gordita Bold"/>
                <a:cs typeface="Gordita Bold"/>
                <a:sym typeface="Gordita Bold"/>
              </a:rPr>
              <a:t>Expected Impact</a:t>
            </a:r>
          </a:p>
        </p:txBody>
      </p:sp>
      <p:sp>
        <p:nvSpPr>
          <p:cNvPr id="16" name="Freeform 16"/>
          <p:cNvSpPr/>
          <p:nvPr/>
        </p:nvSpPr>
        <p:spPr>
          <a:xfrm>
            <a:off x="645330" y="4493047"/>
            <a:ext cx="3718852" cy="1300906"/>
          </a:xfrm>
          <a:custGeom>
            <a:avLst/>
            <a:gdLst/>
            <a:ahLst/>
            <a:cxnLst/>
            <a:rect l="l" t="t" r="r" b="b"/>
            <a:pathLst>
              <a:path w="3718852" h="1300906">
                <a:moveTo>
                  <a:pt x="0" y="0"/>
                </a:moveTo>
                <a:lnTo>
                  <a:pt x="3718852" y="0"/>
                </a:lnTo>
                <a:lnTo>
                  <a:pt x="371885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378050" y="4811935"/>
            <a:ext cx="2130760" cy="44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2496" b="1">
                <a:solidFill>
                  <a:srgbClr val="E6F2F4"/>
                </a:solidFill>
                <a:latin typeface="Gordita Bold"/>
                <a:ea typeface="Gordita Bold"/>
                <a:cs typeface="Gordita Bold"/>
                <a:sym typeface="Gordita Bold"/>
              </a:rPr>
              <a:t>Performance</a:t>
            </a:r>
          </a:p>
        </p:txBody>
      </p:sp>
      <p:sp>
        <p:nvSpPr>
          <p:cNvPr id="18" name="Freeform 18"/>
          <p:cNvSpPr/>
          <p:nvPr/>
        </p:nvSpPr>
        <p:spPr>
          <a:xfrm>
            <a:off x="4353244" y="4493047"/>
            <a:ext cx="9581512" cy="1300906"/>
          </a:xfrm>
          <a:custGeom>
            <a:avLst/>
            <a:gdLst/>
            <a:ahLst/>
            <a:cxnLst/>
            <a:rect l="l" t="t" r="r" b="b"/>
            <a:pathLst>
              <a:path w="9581512" h="1300906">
                <a:moveTo>
                  <a:pt x="0" y="0"/>
                </a:moveTo>
                <a:lnTo>
                  <a:pt x="9581512" y="0"/>
                </a:lnTo>
                <a:lnTo>
                  <a:pt x="958151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9"/>
          <p:cNvSpPr txBox="1"/>
          <p:nvPr/>
        </p:nvSpPr>
        <p:spPr>
          <a:xfrm>
            <a:off x="4727876" y="4714892"/>
            <a:ext cx="4057684" cy="62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1705" b="1">
                <a:solidFill>
                  <a:srgbClr val="2D435A"/>
                </a:solidFill>
                <a:latin typeface="Gordita Bold"/>
                <a:ea typeface="Gordita Bold"/>
                <a:cs typeface="Gordita Bold"/>
                <a:sym typeface="Gordita Bold"/>
              </a:rPr>
              <a:t>Focus on high-performing products, channels, and customer segments</a:t>
            </a:r>
          </a:p>
        </p:txBody>
      </p:sp>
      <p:sp>
        <p:nvSpPr>
          <p:cNvPr id="20" name="Freeform 20"/>
          <p:cNvSpPr/>
          <p:nvPr/>
        </p:nvSpPr>
        <p:spPr>
          <a:xfrm>
            <a:off x="9351818" y="4493047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9913109" y="4714892"/>
            <a:ext cx="2563284" cy="62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1705" b="1">
                <a:solidFill>
                  <a:srgbClr val="2D435A"/>
                </a:solidFill>
                <a:latin typeface="Gordita Bold"/>
                <a:ea typeface="Gordita Bold"/>
                <a:cs typeface="Gordita Bold"/>
                <a:sym typeface="Gordita Bold"/>
              </a:rPr>
              <a:t>Increased revenue and</a:t>
            </a:r>
          </a:p>
          <a:p>
            <a:pPr algn="l">
              <a:lnSpc>
                <a:spcPts val="2557"/>
              </a:lnSpc>
            </a:pPr>
            <a:r>
              <a:rPr lang="en-US" sz="1705" b="1">
                <a:solidFill>
                  <a:srgbClr val="2D435A"/>
                </a:solidFill>
                <a:latin typeface="Gordita Bold"/>
                <a:ea typeface="Gordita Bold"/>
                <a:cs typeface="Gordita Bold"/>
                <a:sym typeface="Gordita Bold"/>
              </a:rPr>
              <a:t>higher profit margins</a:t>
            </a:r>
          </a:p>
        </p:txBody>
      </p:sp>
      <p:sp>
        <p:nvSpPr>
          <p:cNvPr id="22" name="Freeform 22"/>
          <p:cNvSpPr/>
          <p:nvPr/>
        </p:nvSpPr>
        <p:spPr>
          <a:xfrm>
            <a:off x="645330" y="5564382"/>
            <a:ext cx="3718852" cy="1300906"/>
          </a:xfrm>
          <a:custGeom>
            <a:avLst/>
            <a:gdLst/>
            <a:ahLst/>
            <a:cxnLst/>
            <a:rect l="l" t="t" r="r" b="b"/>
            <a:pathLst>
              <a:path w="3718852" h="1300906">
                <a:moveTo>
                  <a:pt x="0" y="0"/>
                </a:moveTo>
                <a:lnTo>
                  <a:pt x="3718852" y="0"/>
                </a:lnTo>
                <a:lnTo>
                  <a:pt x="371885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744359" y="6001742"/>
            <a:ext cx="3398142" cy="44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2496" b="1">
                <a:solidFill>
                  <a:srgbClr val="E6F2F4"/>
                </a:solidFill>
                <a:latin typeface="Gordita Bold"/>
                <a:ea typeface="Gordita Bold"/>
                <a:cs typeface="Gordita Bold"/>
                <a:sym typeface="Gordita Bold"/>
              </a:rPr>
              <a:t>Growth Opportunity</a:t>
            </a:r>
          </a:p>
        </p:txBody>
      </p:sp>
      <p:sp>
        <p:nvSpPr>
          <p:cNvPr id="24" name="Freeform 24"/>
          <p:cNvSpPr/>
          <p:nvPr/>
        </p:nvSpPr>
        <p:spPr>
          <a:xfrm>
            <a:off x="4353244" y="5564382"/>
            <a:ext cx="9800268" cy="1300906"/>
          </a:xfrm>
          <a:custGeom>
            <a:avLst/>
            <a:gdLst/>
            <a:ahLst/>
            <a:cxnLst/>
            <a:rect l="l" t="t" r="r" b="b"/>
            <a:pathLst>
              <a:path w="9800268" h="1300906">
                <a:moveTo>
                  <a:pt x="0" y="0"/>
                </a:moveTo>
                <a:lnTo>
                  <a:pt x="9800268" y="0"/>
                </a:lnTo>
                <a:lnTo>
                  <a:pt x="980026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TextBox 25"/>
          <p:cNvSpPr txBox="1"/>
          <p:nvPr/>
        </p:nvSpPr>
        <p:spPr>
          <a:xfrm>
            <a:off x="4732760" y="5904698"/>
            <a:ext cx="3569324" cy="62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1705" b="1">
                <a:solidFill>
                  <a:srgbClr val="2D435A"/>
                </a:solidFill>
                <a:latin typeface="Gordita Bold"/>
                <a:ea typeface="Gordita Bold"/>
                <a:cs typeface="Gordita Bold"/>
                <a:sym typeface="Gordita Bold"/>
              </a:rPr>
              <a:t>Expand in top-potential regions</a:t>
            </a:r>
          </a:p>
          <a:p>
            <a:pPr algn="l">
              <a:lnSpc>
                <a:spcPts val="2557"/>
              </a:lnSpc>
            </a:pPr>
            <a:r>
              <a:rPr lang="en-US" sz="1705" b="1">
                <a:solidFill>
                  <a:srgbClr val="2D435A"/>
                </a:solidFill>
                <a:latin typeface="Gordita Bold"/>
                <a:ea typeface="Gordita Bold"/>
                <a:cs typeface="Gordita Bold"/>
                <a:sym typeface="Gordita Bold"/>
              </a:rPr>
              <a:t>and customer segments</a:t>
            </a:r>
          </a:p>
        </p:txBody>
      </p:sp>
      <p:sp>
        <p:nvSpPr>
          <p:cNvPr id="26" name="Freeform 26"/>
          <p:cNvSpPr/>
          <p:nvPr/>
        </p:nvSpPr>
        <p:spPr>
          <a:xfrm>
            <a:off x="9351818" y="5783021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9910019" y="5904698"/>
            <a:ext cx="2872286" cy="62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1705" b="1">
                <a:solidFill>
                  <a:srgbClr val="2D435A"/>
                </a:solidFill>
                <a:latin typeface="Gordita Bold"/>
                <a:ea typeface="Gordita Bold"/>
                <a:cs typeface="Gordita Bold"/>
                <a:sym typeface="Gordita Bold"/>
              </a:rPr>
              <a:t>Market share growth and</a:t>
            </a:r>
          </a:p>
          <a:p>
            <a:pPr algn="l">
              <a:lnSpc>
                <a:spcPts val="2557"/>
              </a:lnSpc>
            </a:pPr>
            <a:r>
              <a:rPr lang="en-US" sz="1705" b="1">
                <a:solidFill>
                  <a:srgbClr val="2D435A"/>
                </a:solidFill>
                <a:latin typeface="Gordita Bold"/>
                <a:ea typeface="Gordita Bold"/>
                <a:cs typeface="Gordita Bold"/>
                <a:sym typeface="Gordita Bold"/>
              </a:rPr>
              <a:t>new revenue streams</a:t>
            </a:r>
          </a:p>
        </p:txBody>
      </p:sp>
      <p:sp>
        <p:nvSpPr>
          <p:cNvPr id="28" name="Freeform 28"/>
          <p:cNvSpPr/>
          <p:nvPr/>
        </p:nvSpPr>
        <p:spPr>
          <a:xfrm>
            <a:off x="645330" y="6854356"/>
            <a:ext cx="3718852" cy="1289974"/>
          </a:xfrm>
          <a:custGeom>
            <a:avLst/>
            <a:gdLst/>
            <a:ahLst/>
            <a:cxnLst/>
            <a:rect l="l" t="t" r="r" b="b"/>
            <a:pathLst>
              <a:path w="3718852" h="1289974">
                <a:moveTo>
                  <a:pt x="0" y="0"/>
                </a:moveTo>
                <a:lnTo>
                  <a:pt x="3718852" y="0"/>
                </a:lnTo>
                <a:lnTo>
                  <a:pt x="371885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TextBox 29"/>
          <p:cNvSpPr txBox="1"/>
          <p:nvPr/>
        </p:nvSpPr>
        <p:spPr>
          <a:xfrm>
            <a:off x="894904" y="7191548"/>
            <a:ext cx="3097053" cy="44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2496" b="1">
                <a:solidFill>
                  <a:srgbClr val="E6F2F4"/>
                </a:solidFill>
                <a:latin typeface="Gordita Bold"/>
                <a:ea typeface="Gordita Bold"/>
                <a:cs typeface="Gordita Bold"/>
                <a:sym typeface="Gordita Bold"/>
              </a:rPr>
              <a:t>Improvement Area</a:t>
            </a:r>
          </a:p>
        </p:txBody>
      </p:sp>
      <p:sp>
        <p:nvSpPr>
          <p:cNvPr id="30" name="Freeform 30"/>
          <p:cNvSpPr/>
          <p:nvPr/>
        </p:nvSpPr>
        <p:spPr>
          <a:xfrm>
            <a:off x="4353244" y="6854356"/>
            <a:ext cx="10019024" cy="1289974"/>
          </a:xfrm>
          <a:custGeom>
            <a:avLst/>
            <a:gdLst/>
            <a:ahLst/>
            <a:cxnLst/>
            <a:rect l="l" t="t" r="r" b="b"/>
            <a:pathLst>
              <a:path w="10019024" h="1289974">
                <a:moveTo>
                  <a:pt x="0" y="0"/>
                </a:moveTo>
                <a:lnTo>
                  <a:pt x="10019024" y="0"/>
                </a:lnTo>
                <a:lnTo>
                  <a:pt x="1001902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TextBox 31"/>
          <p:cNvSpPr txBox="1"/>
          <p:nvPr/>
        </p:nvSpPr>
        <p:spPr>
          <a:xfrm>
            <a:off x="4728658" y="7109566"/>
            <a:ext cx="3979541" cy="62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1705" b="1">
                <a:solidFill>
                  <a:srgbClr val="2D435A"/>
                </a:solidFill>
                <a:latin typeface="Gordita Bold"/>
                <a:ea typeface="Gordita Bold"/>
                <a:cs typeface="Gordita Bold"/>
                <a:sym typeface="Gordita Bold"/>
              </a:rPr>
              <a:t>Address underperforming products and low-converting channels</a:t>
            </a:r>
          </a:p>
        </p:txBody>
      </p:sp>
      <p:sp>
        <p:nvSpPr>
          <p:cNvPr id="32" name="Freeform 32"/>
          <p:cNvSpPr/>
          <p:nvPr/>
        </p:nvSpPr>
        <p:spPr>
          <a:xfrm>
            <a:off x="9351818" y="6854356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TextBox 33"/>
          <p:cNvSpPr txBox="1"/>
          <p:nvPr/>
        </p:nvSpPr>
        <p:spPr>
          <a:xfrm>
            <a:off x="9907319" y="7084199"/>
            <a:ext cx="3142279" cy="66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1810" b="1">
                <a:solidFill>
                  <a:srgbClr val="2D435A"/>
                </a:solidFill>
                <a:latin typeface="Gordita Bold"/>
                <a:ea typeface="Gordita Bold"/>
                <a:cs typeface="Gordita Bold"/>
                <a:sym typeface="Gordita Bold"/>
              </a:rPr>
              <a:t>Better conversion rates and operational efficiency</a:t>
            </a:r>
          </a:p>
        </p:txBody>
      </p:sp>
      <p:sp>
        <p:nvSpPr>
          <p:cNvPr id="34" name="Freeform 34"/>
          <p:cNvSpPr/>
          <p:nvPr/>
        </p:nvSpPr>
        <p:spPr>
          <a:xfrm>
            <a:off x="645330" y="8133399"/>
            <a:ext cx="3718852" cy="1082267"/>
          </a:xfrm>
          <a:custGeom>
            <a:avLst/>
            <a:gdLst/>
            <a:ahLst/>
            <a:cxnLst/>
            <a:rect l="l" t="t" r="r" b="b"/>
            <a:pathLst>
              <a:path w="3718852" h="1082267">
                <a:moveTo>
                  <a:pt x="0" y="0"/>
                </a:moveTo>
                <a:lnTo>
                  <a:pt x="3718852" y="0"/>
                </a:lnTo>
                <a:lnTo>
                  <a:pt x="371885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TextBox 35"/>
          <p:cNvSpPr txBox="1"/>
          <p:nvPr/>
        </p:nvSpPr>
        <p:spPr>
          <a:xfrm>
            <a:off x="1169036" y="8396415"/>
            <a:ext cx="2548789" cy="44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2496" b="1">
                <a:solidFill>
                  <a:srgbClr val="E6F2F4"/>
                </a:solidFill>
                <a:latin typeface="Gordita Bold"/>
                <a:ea typeface="Gordita Bold"/>
                <a:cs typeface="Gordita Bold"/>
                <a:sym typeface="Gordita Bold"/>
              </a:rPr>
              <a:t>Future Analysis</a:t>
            </a:r>
          </a:p>
        </p:txBody>
      </p:sp>
      <p:sp>
        <p:nvSpPr>
          <p:cNvPr id="36" name="Freeform 36"/>
          <p:cNvSpPr/>
          <p:nvPr/>
        </p:nvSpPr>
        <p:spPr>
          <a:xfrm>
            <a:off x="4353244" y="8133399"/>
            <a:ext cx="10237780" cy="1082267"/>
          </a:xfrm>
          <a:custGeom>
            <a:avLst/>
            <a:gdLst/>
            <a:ahLst/>
            <a:cxnLst/>
            <a:rect l="l" t="t" r="r" b="b"/>
            <a:pathLst>
              <a:path w="10237780" h="1082267">
                <a:moveTo>
                  <a:pt x="0" y="0"/>
                </a:moveTo>
                <a:lnTo>
                  <a:pt x="10237780" y="0"/>
                </a:lnTo>
                <a:lnTo>
                  <a:pt x="10237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TextBox 37"/>
          <p:cNvSpPr txBox="1"/>
          <p:nvPr/>
        </p:nvSpPr>
        <p:spPr>
          <a:xfrm>
            <a:off x="4726887" y="8290851"/>
            <a:ext cx="4156605" cy="632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sz="1757" b="1">
                <a:solidFill>
                  <a:srgbClr val="2D435A"/>
                </a:solidFill>
                <a:latin typeface="Gordita Bold"/>
                <a:ea typeface="Gordita Bold"/>
                <a:cs typeface="Gordita Bold"/>
                <a:sym typeface="Gordita Bold"/>
              </a:rPr>
              <a:t>Deepen analysis on retention drivers and customer lifetime value</a:t>
            </a:r>
          </a:p>
        </p:txBody>
      </p:sp>
      <p:sp>
        <p:nvSpPr>
          <p:cNvPr id="38" name="Freeform 38"/>
          <p:cNvSpPr/>
          <p:nvPr/>
        </p:nvSpPr>
        <p:spPr>
          <a:xfrm>
            <a:off x="9351818" y="8133399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TextBox 39"/>
          <p:cNvSpPr txBox="1"/>
          <p:nvPr/>
        </p:nvSpPr>
        <p:spPr>
          <a:xfrm>
            <a:off x="9904534" y="8299372"/>
            <a:ext cx="3420815" cy="62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lang="en-US" sz="1705" b="1">
                <a:solidFill>
                  <a:srgbClr val="2D435A"/>
                </a:solidFill>
                <a:latin typeface="Gordita Bold"/>
                <a:ea typeface="Gordita Bold"/>
                <a:cs typeface="Gordita Bold"/>
                <a:sym typeface="Gordita Bold"/>
              </a:rPr>
              <a:t>Stronger customer loyalty and sustainable long-term growth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84970" y="3696429"/>
            <a:ext cx="1123121" cy="44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5"/>
              </a:lnSpc>
            </a:pPr>
            <a:r>
              <a:rPr lang="en-US" sz="2443" b="1">
                <a:solidFill>
                  <a:srgbClr val="E6F2F4"/>
                </a:solidFill>
                <a:latin typeface="Gordita Bold"/>
                <a:ea typeface="Gordita Bold"/>
                <a:cs typeface="Gordita Bold"/>
                <a:sym typeface="Gordita Bold"/>
              </a:rPr>
              <a:t>Insight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1758134" cy="10287000"/>
          </a:xfrm>
          <a:custGeom>
            <a:avLst/>
            <a:gdLst/>
            <a:ahLst/>
            <a:cxnLst/>
            <a:rect l="l" t="t" r="r" b="b"/>
            <a:pathLst>
              <a:path w="11758134" h="10287000">
                <a:moveTo>
                  <a:pt x="0" y="0"/>
                </a:moveTo>
                <a:lnTo>
                  <a:pt x="11758134" y="0"/>
                </a:lnTo>
                <a:lnTo>
                  <a:pt x="11758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1747196" y="0"/>
            <a:ext cx="6540804" cy="10287000"/>
          </a:xfrm>
          <a:custGeom>
            <a:avLst/>
            <a:gdLst/>
            <a:ahLst/>
            <a:cxnLst/>
            <a:rect l="l" t="t" r="r" b="b"/>
            <a:pathLst>
              <a:path w="6540804" h="10287000">
                <a:moveTo>
                  <a:pt x="0" y="0"/>
                </a:moveTo>
                <a:lnTo>
                  <a:pt x="6540804" y="0"/>
                </a:lnTo>
                <a:lnTo>
                  <a:pt x="65408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11500" y="909775"/>
            <a:ext cx="6538246" cy="1785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88"/>
              </a:lnSpc>
            </a:pPr>
            <a:r>
              <a:rPr lang="en-US" sz="7650" b="1">
                <a:solidFill>
                  <a:srgbClr val="132A44"/>
                </a:solidFill>
                <a:latin typeface="Gordita Bold"/>
                <a:ea typeface="Gordita Bold"/>
                <a:cs typeface="Gordita Bold"/>
                <a:sym typeface="Gordita Bold"/>
              </a:rPr>
              <a:t>Conclusion &amp; Next Steps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7226" y="3257964"/>
            <a:ext cx="6965729" cy="1683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285">
                <a:solidFill>
                  <a:srgbClr val="364453"/>
                </a:solidFill>
                <a:latin typeface="Gordita"/>
                <a:ea typeface="Gordita"/>
                <a:cs typeface="Gordita"/>
                <a:sym typeface="Gordita"/>
              </a:rPr>
              <a:t>What the analysis revealed</a:t>
            </a:r>
          </a:p>
          <a:p>
            <a:pPr algn="l">
              <a:lnSpc>
                <a:spcPts val="3427"/>
              </a:lnSpc>
            </a:pPr>
            <a:r>
              <a:rPr lang="en-US" sz="2285">
                <a:solidFill>
                  <a:srgbClr val="364453"/>
                </a:solidFill>
                <a:latin typeface="Gordita"/>
                <a:ea typeface="Gordita"/>
                <a:cs typeface="Gordita"/>
                <a:sym typeface="Gordita"/>
              </a:rPr>
              <a:t>What the statistical test validated</a:t>
            </a:r>
          </a:p>
          <a:p>
            <a:pPr algn="l">
              <a:lnSpc>
                <a:spcPts val="3427"/>
              </a:lnSpc>
            </a:pPr>
            <a:r>
              <a:rPr lang="en-US" sz="2285">
                <a:solidFill>
                  <a:srgbClr val="364453"/>
                </a:solidFill>
                <a:latin typeface="Gordita"/>
                <a:ea typeface="Gordita"/>
                <a:cs typeface="Gordita"/>
                <a:sym typeface="Gordita"/>
              </a:rPr>
              <a:t>Why the findings matter to the business</a:t>
            </a:r>
          </a:p>
          <a:p>
            <a:pPr algn="l">
              <a:lnSpc>
                <a:spcPts val="3427"/>
              </a:lnSpc>
            </a:pPr>
            <a:r>
              <a:rPr lang="en-US" sz="2285">
                <a:solidFill>
                  <a:srgbClr val="364453"/>
                </a:solidFill>
                <a:latin typeface="Gordita"/>
                <a:ea typeface="Gordita"/>
                <a:cs typeface="Gordita"/>
                <a:sym typeface="Gordita"/>
              </a:rPr>
              <a:t>What should be investigated or monitored next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5356674"/>
            <a:ext cx="5239206" cy="3224936"/>
          </a:xfrm>
          <a:custGeom>
            <a:avLst/>
            <a:gdLst/>
            <a:ahLst/>
            <a:cxnLst/>
            <a:rect l="l" t="t" r="r" b="b"/>
            <a:pathLst>
              <a:path w="5239206" h="3224936">
                <a:moveTo>
                  <a:pt x="0" y="0"/>
                </a:moveTo>
                <a:lnTo>
                  <a:pt x="5239206" y="0"/>
                </a:lnTo>
                <a:lnTo>
                  <a:pt x="523920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053834" y="5791284"/>
            <a:ext cx="1772841" cy="2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0"/>
              </a:lnSpc>
            </a:pPr>
            <a:r>
              <a:rPr lang="en-US" sz="1546" b="1">
                <a:solidFill>
                  <a:srgbClr val="FFFFFF">
                    <a:alpha val="84706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KEY TAKEAWAY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4662" y="6303909"/>
            <a:ext cx="3690088" cy="156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438" b="1">
                <a:solidFill>
                  <a:srgbClr val="FFFFFF">
                    <a:alpha val="84706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Data-driven insights unlock measurable opportunities for</a:t>
            </a:r>
          </a:p>
          <a:p>
            <a:pPr algn="l">
              <a:lnSpc>
                <a:spcPts val="3170"/>
              </a:lnSpc>
            </a:pPr>
            <a:r>
              <a:rPr lang="en-US" sz="2438" b="1">
                <a:solidFill>
                  <a:srgbClr val="FFFFFF">
                    <a:alpha val="84706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growth and efficiency.</a:t>
            </a:r>
          </a:p>
        </p:txBody>
      </p:sp>
      <p:sp>
        <p:nvSpPr>
          <p:cNvPr id="10" name="Freeform 10"/>
          <p:cNvSpPr/>
          <p:nvPr/>
        </p:nvSpPr>
        <p:spPr>
          <a:xfrm>
            <a:off x="5217330" y="6635716"/>
            <a:ext cx="1104718" cy="437279"/>
          </a:xfrm>
          <a:custGeom>
            <a:avLst/>
            <a:gdLst/>
            <a:ahLst/>
            <a:cxnLst/>
            <a:rect l="l" t="t" r="r" b="b"/>
            <a:pathLst>
              <a:path w="1104718" h="437279">
                <a:moveTo>
                  <a:pt x="0" y="0"/>
                </a:moveTo>
                <a:lnTo>
                  <a:pt x="1104718" y="0"/>
                </a:lnTo>
                <a:lnTo>
                  <a:pt x="110471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5654842" y="5356674"/>
            <a:ext cx="5457962" cy="3224936"/>
          </a:xfrm>
          <a:custGeom>
            <a:avLst/>
            <a:gdLst/>
            <a:ahLst/>
            <a:cxnLst/>
            <a:rect l="l" t="t" r="r" b="b"/>
            <a:pathLst>
              <a:path w="5457962" h="3224936">
                <a:moveTo>
                  <a:pt x="0" y="0"/>
                </a:moveTo>
                <a:lnTo>
                  <a:pt x="5457962" y="0"/>
                </a:lnTo>
                <a:lnTo>
                  <a:pt x="545796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6524362" y="5801143"/>
            <a:ext cx="1216952" cy="23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 b="1">
                <a:solidFill>
                  <a:srgbClr val="FFFFFF">
                    <a:alpha val="84706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NEXT STEP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99574" y="6303909"/>
            <a:ext cx="3695765" cy="156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438" b="1">
                <a:solidFill>
                  <a:srgbClr val="FFFFFF">
                    <a:alpha val="84706"/>
                  </a:srgbClr>
                </a:solidFill>
                <a:latin typeface="Gordita Bold"/>
                <a:ea typeface="Gordita Bold"/>
                <a:cs typeface="Gordita Bold"/>
                <a:sym typeface="Gordita Bold"/>
              </a:rPr>
              <a:t>Translate insights into action by prioritizing high-impact initiatives and tracking results.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7421" y="8838980"/>
            <a:ext cx="2946154" cy="959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3981" b="1">
                <a:solidFill>
                  <a:srgbClr val="132A44"/>
                </a:solidFill>
                <a:latin typeface="Gordita Bold"/>
                <a:ea typeface="Gordita Bold"/>
                <a:cs typeface="Gordita Bold"/>
                <a:sym typeface="Gordita Bold"/>
              </a:rPr>
              <a:t>Thank You</a:t>
            </a:r>
          </a:p>
          <a:p>
            <a:pPr algn="l">
              <a:lnSpc>
                <a:spcPts val="3783"/>
              </a:lnSpc>
            </a:pPr>
            <a:r>
              <a:rPr lang="en-US" sz="3981" b="1">
                <a:solidFill>
                  <a:srgbClr val="268B8B"/>
                </a:solidFill>
                <a:latin typeface="Gordita Bold"/>
                <a:ea typeface="Gordita Bold"/>
                <a:cs typeface="Gordita Bold"/>
                <a:sym typeface="Gordita Bold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618</Words>
  <Application>Microsoft Office PowerPoint</Application>
  <PresentationFormat>Custom</PresentationFormat>
  <Paragraphs>182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Gordita</vt:lpstr>
      <vt:lpstr>Gordita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</dc:title>
  <dc:creator>dell</dc:creator>
  <cp:lastModifiedBy>BINDU NAGARAJ BINDU</cp:lastModifiedBy>
  <cp:revision>2</cp:revision>
  <dcterms:created xsi:type="dcterms:W3CDTF">2006-08-16T00:00:00Z</dcterms:created>
  <dcterms:modified xsi:type="dcterms:W3CDTF">2026-10-02T05:57:27Z</dcterms:modified>
  <dc:identifier>DAHW0tQs6lQ</dc:identifier>
</cp:coreProperties>
</file>